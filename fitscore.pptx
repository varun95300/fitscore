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3.jpeg" ContentType="image/jpeg"/>
  <Override PartName="/ppt/media/image23.png" ContentType="image/png"/>
  <Override PartName="/ppt/media/image10.png" ContentType="image/png"/>
  <Override PartName="/ppt/media/image9.png" ContentType="image/png"/>
  <Override PartName="/ppt/media/image8.png" ContentType="image/png"/>
  <Override PartName="/ppt/media/image12.png" ContentType="image/png"/>
  <Override PartName="/ppt/media/image7.png" ContentType="image/png"/>
  <Override PartName="/ppt/media/image11.png" ContentType="image/png"/>
  <Override PartName="/ppt/media/image6.png" ContentType="image/png"/>
  <Override PartName="/ppt/media/image5.jpeg" ContentType="image/jpeg"/>
  <Override PartName="/ppt/media/image22.png" ContentType="image/png"/>
  <Override PartName="/ppt/media/image20.png" ContentType="image/png"/>
  <Override PartName="/ppt/media/image21.png" ContentType="image/png"/>
  <Override PartName="/ppt/media/image19.png" ContentType="image/png"/>
  <Override PartName="/ppt/media/image1.png" ContentType="image/png"/>
  <Override PartName="/ppt/media/image18.jpeg" ContentType="image/jpeg"/>
  <Override PartName="/ppt/media/image17.png" ContentType="image/png"/>
  <Override PartName="/ppt/media/image16.jpeg" ContentType="image/jpeg"/>
  <Override PartName="/ppt/media/image14.png" ContentType="image/png"/>
  <Override PartName="/ppt/media/image3.jpeg" ContentType="image/jpeg"/>
  <Override PartName="/ppt/media/image15.png" ContentType="image/png"/>
  <Override PartName="/ppt/media/image4.jpeg" ContentType="image/jpeg"/>
  <Override PartName="/ppt/media/image2.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3DC2199-8B34-49F0-ACA7-35BA89FD1204}"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E221863-C5EC-4553-86FA-52446C805E40}"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D9FD93-5D71-460B-A7BE-E924BCC542C8}"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EC55E05-ED51-4340-91F0-68388989C213}"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A6DF8C95-354E-4C9A-9039-EFB02A3B7835}"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63AC838-AC49-4550-B0A7-29C45F7CDB8C}"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ED3B5C9-95B3-49E0-8BE6-D37FB2BCAB78}"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D0FF9D7-D573-48D5-87D3-ABB1803AAC5B}"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0A5DB8A-4DE1-4916-AA96-11BA9434BAE0}"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D379283-5CAC-4263-BD17-860E9B6BB883}"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1F30D3A8-FB43-4644-85D5-AA4205D281FE}"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6F96D6B4-68DF-4AD1-BB07-80535C15E586}"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BF4A0B7-CF09-4BC1-BB98-A4D66A8A3D83}"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E358B98-F253-418D-85E3-6A7E6D9E16F1}"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19A3D88-EA79-4577-8497-5A4FDB90EC58}"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A2EC518D-AEF3-44D2-A68A-4BC6BF4B03D3}"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DCA8E1F4-240E-48B7-AE91-7A75F69B2F5B}"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21758096-BFAD-46A2-B5F3-FEDF2A11B36B}"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79FFBF7-A6D9-46F6-BCCB-C5C1DBC12E61}"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3D32A57-D9DB-4B9F-9DA6-B1BFF385B1CC}"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330270-7862-4CE2-8C6A-52C7799D8BEE}"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9F32783-6F32-405A-A92F-59F3F719B0F9}"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5972E9D6-A863-48F3-9418-68F274FAABD1}"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67FFD5E8-5A6B-4A19-B523-E5D0C8A79968}"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1960" y="1709640"/>
            <a:ext cx="10515240" cy="2852280"/>
          </a:xfrm>
          <a:prstGeom prst="rect">
            <a:avLst/>
          </a:prstGeom>
          <a:noFill/>
          <a:ln w="0">
            <a:noFill/>
          </a:ln>
        </p:spPr>
        <p:txBody>
          <a:bodyPr anchor="b">
            <a:normAutofit/>
          </a:bodyPr>
          <a:p>
            <a:r>
              <a:rPr b="0" lang="en-IN" sz="6000" spc="-1" strike="noStrike">
                <a:solidFill>
                  <a:srgbClr val="000000"/>
                </a:solidFill>
                <a:latin typeface="Arial"/>
              </a:rPr>
              <a:t>Click to edit the </a:t>
            </a:r>
            <a:r>
              <a:rPr b="0" lang="en-IN" sz="6000" spc="-1" strike="noStrike">
                <a:solidFill>
                  <a:srgbClr val="000000"/>
                </a:solidFill>
                <a:latin typeface="Arial"/>
              </a:rPr>
              <a:t>title text format</a:t>
            </a:r>
            <a:endParaRPr b="0" lang="en-IN" sz="6000" spc="-1" strike="noStrike">
              <a:solidFill>
                <a:srgbClr val="000000"/>
              </a:solidFill>
              <a:latin typeface="Arial"/>
            </a:endParaRPr>
          </a:p>
        </p:txBody>
      </p:sp>
      <p:sp>
        <p:nvSpPr>
          <p:cNvPr id="1" name="PlaceHolder 2"/>
          <p:cNvSpPr>
            <a:spLocks noGrp="1"/>
          </p:cNvSpPr>
          <p:nvPr>
            <p:ph type="body"/>
          </p:nvPr>
        </p:nvSpPr>
        <p:spPr>
          <a:xfrm>
            <a:off x="831960" y="4589640"/>
            <a:ext cx="10515240" cy="1499760"/>
          </a:xfrm>
          <a:prstGeom prst="rect">
            <a:avLst/>
          </a:prstGeom>
          <a:noFill/>
          <a:ln w="0">
            <a:noFill/>
          </a:ln>
        </p:spPr>
        <p:txBody>
          <a:bodyPr anchor="t">
            <a:normAutofit fontScale="47000"/>
          </a:bodyPr>
          <a:p>
            <a:pPr marL="432000" indent="-324000">
              <a:spcBef>
                <a:spcPts val="1417"/>
              </a:spcBef>
              <a:buClr>
                <a:srgbClr val="000000"/>
              </a:buClr>
              <a:buSzPct val="45000"/>
              <a:buFont typeface="Wingdings" charset="2"/>
              <a:buChar char=""/>
            </a:pPr>
            <a:r>
              <a:rPr b="0" lang="en-IN" sz="2400" spc="-1" strike="noStrike">
                <a:solidFill>
                  <a:srgbClr val="000000"/>
                </a:solidFill>
                <a:latin typeface="Arial"/>
              </a:rPr>
              <a:t>Click to edit the outline text format</a:t>
            </a:r>
            <a:endParaRPr b="0" lang="en-IN"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Arial"/>
              </a:rPr>
              <a:t>Second Outline Level</a:t>
            </a:r>
            <a:endParaRPr b="0" lang="en-IN"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400" spc="-1" strike="noStrike">
                <a:solidFill>
                  <a:srgbClr val="000000"/>
                </a:solidFill>
                <a:latin typeface="Arial"/>
              </a:rPr>
              <a:t>Fourth Outline Level</a:t>
            </a:r>
            <a:endParaRPr b="0" lang="en-IN"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400" spc="-1" strike="noStrike">
                <a:solidFill>
                  <a:srgbClr val="000000"/>
                </a:solidFill>
                <a:latin typeface="Arial"/>
              </a:rPr>
              <a:t>Fifth Outline Level</a:t>
            </a:r>
            <a:endParaRPr b="0" lang="en-IN"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400" spc="-1" strike="noStrike">
                <a:solidFill>
                  <a:srgbClr val="000000"/>
                </a:solidFill>
                <a:latin typeface="Arial"/>
              </a:rPr>
              <a:t>Sixth Outline Level</a:t>
            </a:r>
            <a:endParaRPr b="0" lang="en-IN"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400" spc="-1" strike="noStrike">
                <a:solidFill>
                  <a:srgbClr val="000000"/>
                </a:solidFill>
                <a:latin typeface="Arial"/>
              </a:rPr>
              <a:t>Seventh Outline Level</a:t>
            </a:r>
            <a:endParaRPr b="0" lang="en-IN" sz="2400" spc="-1" strike="noStrike">
              <a:solidFill>
                <a:srgbClr val="000000"/>
              </a:solidFill>
              <a:latin typeface="Arial"/>
            </a:endParaRPr>
          </a:p>
        </p:txBody>
      </p:sp>
      <p:sp>
        <p:nvSpPr>
          <p:cNvPr id="2" name="PlaceHolder 3"/>
          <p:cNvSpPr>
            <a:spLocks noGrp="1"/>
          </p:cNvSpPr>
          <p:nvPr>
            <p:ph type="dt" idx="1"/>
          </p:nvPr>
        </p:nvSpPr>
        <p:spPr>
          <a:xfrm>
            <a:off x="838080" y="6356520"/>
            <a:ext cx="2742840" cy="364680"/>
          </a:xfrm>
          <a:prstGeom prst="rect">
            <a:avLst/>
          </a:prstGeom>
          <a:noFill/>
          <a:ln w="0">
            <a:noFill/>
          </a:ln>
        </p:spPr>
        <p:txBody>
          <a:bodyPr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3" name="PlaceHolder 4"/>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4" name="PlaceHolder 5"/>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tabLst>
                <a:tab algn="l" pos="0"/>
              </a:tabLst>
              <a:defRPr b="0" lang="en-US" sz="1200" spc="-1" strike="noStrike">
                <a:solidFill>
                  <a:srgbClr val="888888"/>
                </a:solidFill>
                <a:latin typeface="Calibri"/>
                <a:ea typeface="Calibri"/>
              </a:defRPr>
            </a:lvl1pPr>
          </a:lstStyle>
          <a:p>
            <a:pPr algn="r">
              <a:lnSpc>
                <a:spcPct val="100000"/>
              </a:lnSpc>
              <a:buNone/>
              <a:tabLst>
                <a:tab algn="l" pos="0"/>
              </a:tabLst>
            </a:pPr>
            <a:fld id="{6668762C-9506-4B6D-B8A6-0D6A5792B4E3}" type="slidenum">
              <a:rPr b="0" lang="en-US" sz="1200" spc="-1" strike="noStrike">
                <a:solidFill>
                  <a:srgbClr val="888888"/>
                </a:solidFill>
                <a:latin typeface="Calibri"/>
                <a:ea typeface="Calibri"/>
              </a:rPr>
              <a:t>&lt;number&gt;</a:t>
            </a:fld>
            <a:endParaRPr b="0" lang="en-IN"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rmAutofit/>
          </a:bodyPr>
          <a:p>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rmAutofit/>
          </a:bodyPr>
          <a:p>
            <a:pPr marL="432000" indent="-324000">
              <a:spcBef>
                <a:spcPts val="1417"/>
              </a:spcBef>
              <a:buClr>
                <a:srgbClr val="000000"/>
              </a:buClr>
              <a:buSzPct val="45000"/>
              <a:buFont typeface="Wingdings" charset="2"/>
              <a:buChar char=""/>
            </a:pPr>
            <a:r>
              <a:rPr b="0" lang="en-IN" sz="2800" spc="-1" strike="noStrike">
                <a:solidFill>
                  <a:srgbClr val="000000"/>
                </a:solidFill>
                <a:latin typeface="Arial"/>
              </a:rPr>
              <a:t>Click to edit the outline text format</a:t>
            </a:r>
            <a:endParaRPr b="0" lang="en-IN"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800" spc="-1" strike="noStrike">
                <a:solidFill>
                  <a:srgbClr val="000000"/>
                </a:solidFill>
                <a:latin typeface="Arial"/>
              </a:rPr>
              <a:t>Third Outline Level</a:t>
            </a:r>
            <a:endParaRPr b="0" lang="en-IN"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800" spc="-1" strike="noStrike">
                <a:solidFill>
                  <a:srgbClr val="000000"/>
                </a:solidFill>
                <a:latin typeface="Arial"/>
              </a:rPr>
              <a:t>Fourth Outline Level</a:t>
            </a:r>
            <a:endParaRPr b="0" lang="en-IN"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800" spc="-1" strike="noStrike">
                <a:solidFill>
                  <a:srgbClr val="000000"/>
                </a:solidFill>
                <a:latin typeface="Arial"/>
              </a:rPr>
              <a:t>Fifth Outline Level</a:t>
            </a:r>
            <a:endParaRPr b="0" lang="en-IN"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800" spc="-1" strike="noStrike">
                <a:solidFill>
                  <a:srgbClr val="000000"/>
                </a:solidFill>
                <a:latin typeface="Arial"/>
              </a:rPr>
              <a:t>Sixth Outline Level</a:t>
            </a:r>
            <a:endParaRPr b="0" lang="en-IN"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800" spc="-1" strike="noStrike">
                <a:solidFill>
                  <a:srgbClr val="000000"/>
                </a:solidFill>
                <a:latin typeface="Arial"/>
              </a:rPr>
              <a:t>Seventh Outline Level</a:t>
            </a:r>
            <a:endParaRPr b="0" lang="en-IN" sz="2800" spc="-1" strike="noStrike">
              <a:solidFill>
                <a:srgbClr val="000000"/>
              </a:solidFill>
              <a:latin typeface="Arial"/>
            </a:endParaRP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tabLst>
                <a:tab algn="l" pos="0"/>
              </a:tabLst>
              <a:defRPr b="0" lang="en-US" sz="1200" spc="-1" strike="noStrike">
                <a:solidFill>
                  <a:srgbClr val="888888"/>
                </a:solidFill>
                <a:latin typeface="Calibri"/>
                <a:ea typeface="Calibri"/>
              </a:defRPr>
            </a:lvl1pPr>
          </a:lstStyle>
          <a:p>
            <a:pPr algn="r">
              <a:lnSpc>
                <a:spcPct val="100000"/>
              </a:lnSpc>
              <a:buNone/>
              <a:tabLst>
                <a:tab algn="l" pos="0"/>
              </a:tabLst>
            </a:pPr>
            <a:fld id="{5A725582-F60B-418D-A0B9-176FF3CCB263}" type="slidenum">
              <a:rPr b="0" lang="en-US" sz="1200" spc="-1" strike="noStrike">
                <a:solidFill>
                  <a:srgbClr val="888888"/>
                </a:solidFill>
                <a:latin typeface="Calibri"/>
                <a:ea typeface="Calibri"/>
              </a:rPr>
              <a:t>&lt;number&gt;</a:t>
            </a:fld>
            <a:endParaRPr b="0" lang="en-IN"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jpe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jpeg"/><Relationship Id="rId3"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jpeg"/><Relationship Id="rId3"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1960" y="581760"/>
            <a:ext cx="10515240" cy="2852280"/>
          </a:xfrm>
          <a:prstGeom prst="rect">
            <a:avLst/>
          </a:prstGeom>
          <a:noFill/>
          <a:ln w="0">
            <a:noFill/>
          </a:ln>
        </p:spPr>
        <p:txBody>
          <a:bodyPr anchor="b">
            <a:normAutofit fontScale="87000"/>
          </a:bodyPr>
          <a:p>
            <a:pPr algn="ctr">
              <a:lnSpc>
                <a:spcPct val="90000"/>
              </a:lnSpc>
              <a:buNone/>
            </a:pPr>
            <a:r>
              <a:rPr b="0" lang="en-US" sz="6000" spc="-1" strike="noStrike">
                <a:solidFill>
                  <a:srgbClr val="000000"/>
                </a:solidFill>
                <a:latin typeface="Calibri"/>
                <a:ea typeface="Calibri"/>
              </a:rPr>
              <a:t>Agentic AI </a:t>
            </a:r>
            <a:r>
              <a:rPr b="0" lang="en-US" sz="6000" spc="-1" strike="noStrike">
                <a:solidFill>
                  <a:srgbClr val="000000"/>
                </a:solidFill>
                <a:latin typeface="Calibri"/>
                <a:ea typeface="Calibri"/>
              </a:rPr>
              <a:t>Hackathon: </a:t>
            </a:r>
            <a:r>
              <a:rPr b="0" lang="en-US" sz="6000" spc="-1" strike="noStrike">
                <a:solidFill>
                  <a:srgbClr val="000000"/>
                </a:solidFill>
                <a:latin typeface="Calibri"/>
                <a:ea typeface="Calibri"/>
              </a:rPr>
              <a:t>Building Intelligent </a:t>
            </a:r>
            <a:r>
              <a:rPr b="0" lang="en-US" sz="6000" spc="-1" strike="noStrike">
                <a:solidFill>
                  <a:srgbClr val="000000"/>
                </a:solidFill>
                <a:latin typeface="Calibri"/>
                <a:ea typeface="Calibri"/>
              </a:rPr>
              <a:t>Agents with IBM </a:t>
            </a:r>
            <a:r>
              <a:rPr b="0" lang="en-US" sz="6000" spc="-1" strike="noStrike">
                <a:solidFill>
                  <a:srgbClr val="000000"/>
                </a:solidFill>
                <a:latin typeface="Calibri"/>
                <a:ea typeface="Calibri"/>
              </a:rPr>
              <a:t>Granite and </a:t>
            </a:r>
            <a:r>
              <a:rPr b="0" lang="en-US" sz="6000" spc="-1" strike="noStrike">
                <a:solidFill>
                  <a:srgbClr val="000000"/>
                </a:solidFill>
                <a:latin typeface="Calibri"/>
                <a:ea typeface="Calibri"/>
              </a:rPr>
              <a:t>LangFlow</a:t>
            </a:r>
            <a:endParaRPr b="0" lang="en-IN" sz="6000" spc="-1" strike="noStrike">
              <a:solidFill>
                <a:srgbClr val="000000"/>
              </a:solidFill>
              <a:latin typeface="Arial"/>
            </a:endParaRPr>
          </a:p>
        </p:txBody>
      </p:sp>
      <p:sp>
        <p:nvSpPr>
          <p:cNvPr id="83" name="PlaceHolder 2"/>
          <p:cNvSpPr>
            <a:spLocks noGrp="1"/>
          </p:cNvSpPr>
          <p:nvPr>
            <p:ph/>
          </p:nvPr>
        </p:nvSpPr>
        <p:spPr>
          <a:xfrm>
            <a:off x="1014840" y="3903840"/>
            <a:ext cx="10515240" cy="1499760"/>
          </a:xfrm>
          <a:prstGeom prst="rect">
            <a:avLst/>
          </a:prstGeom>
          <a:noFill/>
          <a:ln w="0">
            <a:noFill/>
          </a:ln>
        </p:spPr>
        <p:txBody>
          <a:bodyPr anchor="t">
            <a:noAutofit/>
          </a:bodyPr>
          <a:p>
            <a:endParaRPr b="0" lang="en-IN" sz="1400" spc="-1" strike="noStrike">
              <a:solidFill>
                <a:srgbClr val="000000"/>
              </a:solidFill>
              <a:latin typeface="Arial"/>
            </a:endParaRPr>
          </a:p>
        </p:txBody>
      </p:sp>
      <p:pic>
        <p:nvPicPr>
          <p:cNvPr id="84" name="Picture 3" descr=""/>
          <p:cNvPicPr/>
          <p:nvPr/>
        </p:nvPicPr>
        <p:blipFill>
          <a:blip r:embed="rId1"/>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Google Shape;92;p2"/>
          <p:cNvSpPr/>
          <p:nvPr/>
        </p:nvSpPr>
        <p:spPr>
          <a:xfrm>
            <a:off x="690480" y="4425480"/>
            <a:ext cx="10795320" cy="198720"/>
          </a:xfrm>
          <a:prstGeom prst="rect">
            <a:avLst/>
          </a:prstGeom>
          <a:noFill/>
          <a:ln w="0">
            <a:noFill/>
          </a:ln>
        </p:spPr>
        <p:style>
          <a:lnRef idx="0"/>
          <a:fillRef idx="0"/>
          <a:effectRef idx="0"/>
          <a:fontRef idx="minor"/>
        </p:style>
      </p:sp>
      <p:sp>
        <p:nvSpPr>
          <p:cNvPr id="86" name="Google Shape;94;p2"/>
          <p:cNvSpPr/>
          <p:nvPr/>
        </p:nvSpPr>
        <p:spPr>
          <a:xfrm>
            <a:off x="2481840" y="1219320"/>
            <a:ext cx="7301520" cy="271080"/>
          </a:xfrm>
          <a:prstGeom prst="rect">
            <a:avLst/>
          </a:prstGeom>
          <a:noFill/>
          <a:ln w="0">
            <a:noFill/>
          </a:ln>
        </p:spPr>
        <p:style>
          <a:lnRef idx="0"/>
          <a:fillRef idx="0"/>
          <a:effectRef idx="0"/>
          <a:fontRef idx="minor"/>
        </p:style>
        <p:txBody>
          <a:bodyPr anchor="ctr">
            <a:noAutofit/>
          </a:bodyPr>
          <a:p>
            <a:pPr algn="ctr">
              <a:lnSpc>
                <a:spcPct val="90000"/>
              </a:lnSpc>
              <a:buNone/>
              <a:tabLst>
                <a:tab algn="l" pos="0"/>
              </a:tabLst>
            </a:pPr>
            <a:r>
              <a:rPr b="1" lang="en-US" sz="3500" spc="-1" strike="noStrike">
                <a:solidFill>
                  <a:srgbClr val="002060"/>
                </a:solidFill>
                <a:latin typeface="Times New Roman"/>
                <a:ea typeface="Times New Roman"/>
              </a:rPr>
              <a:t>Name of the team:  </a:t>
            </a:r>
            <a:r>
              <a:rPr b="1" lang="en-US" sz="3500" spc="-1" strike="noStrike">
                <a:solidFill>
                  <a:srgbClr val="1f3864"/>
                </a:solidFill>
                <a:latin typeface="Times New Roman"/>
                <a:ea typeface="Times New Roman"/>
              </a:rPr>
              <a:t>Fit Score</a:t>
            </a:r>
            <a:r>
              <a:rPr b="1" lang="en-US" sz="3500" spc="-1" strike="noStrike">
                <a:solidFill>
                  <a:srgbClr val="c00000"/>
                </a:solidFill>
                <a:latin typeface="Times New Roman"/>
                <a:ea typeface="Times New Roman"/>
              </a:rPr>
              <a:t> </a:t>
            </a:r>
            <a:r>
              <a:rPr b="1" lang="en-US" sz="3500" spc="-1" strike="noStrike">
                <a:solidFill>
                  <a:srgbClr val="002060"/>
                </a:solidFill>
                <a:latin typeface="Times New Roman"/>
                <a:ea typeface="Times New Roman"/>
              </a:rPr>
              <a:t> </a:t>
            </a:r>
            <a:endParaRPr b="0" lang="en-IN" sz="3500" spc="-1" strike="noStrike">
              <a:latin typeface="Arial"/>
            </a:endParaRPr>
          </a:p>
        </p:txBody>
      </p:sp>
      <p:sp>
        <p:nvSpPr>
          <p:cNvPr id="87" name="Google Shape;95;p2"/>
          <p:cNvSpPr/>
          <p:nvPr/>
        </p:nvSpPr>
        <p:spPr>
          <a:xfrm>
            <a:off x="2190600" y="1490400"/>
            <a:ext cx="7426080" cy="451080"/>
          </a:xfrm>
          <a:prstGeom prst="rect">
            <a:avLst/>
          </a:prstGeom>
          <a:noFill/>
          <a:ln w="0">
            <a:noFill/>
          </a:ln>
        </p:spPr>
        <p:style>
          <a:lnRef idx="0"/>
          <a:fillRef idx="0"/>
          <a:effectRef idx="0"/>
          <a:fontRef idx="minor"/>
        </p:style>
        <p:txBody>
          <a:bodyPr anchor="ctr">
            <a:noAutofit/>
          </a:bodyPr>
          <a:p>
            <a:pPr algn="ctr">
              <a:lnSpc>
                <a:spcPct val="90000"/>
              </a:lnSpc>
              <a:buNone/>
              <a:tabLst>
                <a:tab algn="l" pos="0"/>
              </a:tabLst>
            </a:pPr>
            <a:r>
              <a:rPr b="1" lang="en-US" sz="3200" spc="-1" strike="noStrike">
                <a:solidFill>
                  <a:srgbClr val="002060"/>
                </a:solidFill>
                <a:latin typeface="Times New Roman"/>
                <a:ea typeface="Times New Roman"/>
              </a:rPr>
              <a:t>Details of Team members</a:t>
            </a:r>
            <a:endParaRPr b="0" lang="en-IN" sz="3200" spc="-1" strike="noStrike">
              <a:latin typeface="Arial"/>
            </a:endParaRPr>
          </a:p>
        </p:txBody>
      </p:sp>
      <p:graphicFrame>
        <p:nvGraphicFramePr>
          <p:cNvPr id="88" name="Google Shape;96;p2"/>
          <p:cNvGraphicFramePr/>
          <p:nvPr/>
        </p:nvGraphicFramePr>
        <p:xfrm>
          <a:off x="2549880" y="2018880"/>
          <a:ext cx="7229880" cy="3995280"/>
        </p:xfrm>
        <a:graphic>
          <a:graphicData uri="http://schemas.openxmlformats.org/drawingml/2006/table">
            <a:tbl>
              <a:tblPr/>
              <a:tblGrid>
                <a:gridCol w="1589040"/>
                <a:gridCol w="1880280"/>
                <a:gridCol w="1880280"/>
                <a:gridCol w="1880280"/>
              </a:tblGrid>
              <a:tr h="887760">
                <a:tc>
                  <a:txBody>
                    <a:bodyPr anchor="ctr">
                      <a:noAutofit/>
                    </a:bodyPr>
                    <a:p>
                      <a:pPr algn="ctr">
                        <a:lnSpc>
                          <a:spcPct val="100000"/>
                        </a:lnSpc>
                        <a:buNone/>
                        <a:tabLst>
                          <a:tab algn="l" pos="0"/>
                        </a:tabLst>
                      </a:pPr>
                      <a:r>
                        <a:rPr b="0" lang="en-US" sz="1800" spc="-1" strike="noStrike">
                          <a:solidFill>
                            <a:srgbClr val="000000"/>
                          </a:solidFill>
                          <a:latin typeface="Arial"/>
                          <a:ea typeface="Arial"/>
                        </a:rPr>
                        <a:t>TEAM MEMBER NAME</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c>
                  <a:txBody>
                    <a:bodyPr anchor="ctr">
                      <a:noAutofit/>
                    </a:bodyPr>
                    <a:p>
                      <a:pPr algn="ctr">
                        <a:lnSpc>
                          <a:spcPct val="100000"/>
                        </a:lnSpc>
                        <a:buNone/>
                        <a:tabLst>
                          <a:tab algn="l" pos="0"/>
                        </a:tabLst>
                      </a:pPr>
                      <a:r>
                        <a:rPr b="0" lang="en-US" sz="1800" spc="-1" strike="noStrike">
                          <a:solidFill>
                            <a:srgbClr val="000000"/>
                          </a:solidFill>
                          <a:latin typeface="Arial"/>
                          <a:ea typeface="Arial"/>
                        </a:rPr>
                        <a:t>Recent Passport Photo</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c>
                  <a:txBody>
                    <a:bodyPr anchor="ctr">
                      <a:noAutofit/>
                    </a:bodyPr>
                    <a:p>
                      <a:pPr algn="ctr">
                        <a:lnSpc>
                          <a:spcPct val="100000"/>
                        </a:lnSpc>
                        <a:buNone/>
                        <a:tabLst>
                          <a:tab algn="l" pos="0"/>
                        </a:tabLst>
                      </a:pPr>
                      <a:r>
                        <a:rPr b="1" lang="en-US" sz="1800" spc="-1" strike="noStrike">
                          <a:solidFill>
                            <a:srgbClr val="ffffff"/>
                          </a:solidFill>
                          <a:latin typeface="Calibri"/>
                          <a:ea typeface="Calibri"/>
                        </a:rPr>
                        <a:t>Email ID </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c>
                  <a:txBody>
                    <a:bodyPr anchor="ctr">
                      <a:noAutofit/>
                    </a:bodyPr>
                    <a:p>
                      <a:pPr algn="ctr">
                        <a:lnSpc>
                          <a:spcPct val="100000"/>
                        </a:lnSpc>
                        <a:buNone/>
                        <a:tabLst>
                          <a:tab algn="l" pos="0"/>
                        </a:tabLst>
                      </a:pPr>
                      <a:r>
                        <a:rPr b="1" lang="en-US" sz="1800" spc="-1" strike="noStrike">
                          <a:solidFill>
                            <a:srgbClr val="ffffff"/>
                          </a:solidFill>
                          <a:latin typeface="Calibri"/>
                          <a:ea typeface="Calibri"/>
                        </a:rPr>
                        <a:t>Phone number</a:t>
                      </a:r>
                      <a:endParaRPr b="0" lang="en-IN" sz="1800" spc="-1" strike="noStrike">
                        <a:latin typeface="Arial"/>
                      </a:endParaRPr>
                    </a:p>
                    <a:p>
                      <a:pPr algn="ctr">
                        <a:lnSpc>
                          <a:spcPct val="100000"/>
                        </a:lnSpc>
                        <a:buNone/>
                        <a:tabLst>
                          <a:tab algn="l" pos="0"/>
                        </a:tabLst>
                      </a:pPr>
                      <a:r>
                        <a:rPr b="1" lang="en-US" sz="1800" spc="-1" strike="noStrike">
                          <a:solidFill>
                            <a:srgbClr val="ffffff"/>
                          </a:solidFill>
                          <a:latin typeface="Calibri"/>
                          <a:ea typeface="Calibri"/>
                        </a:rPr>
                        <a:t>[WhatsApp] </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r>
              <a:tr h="941760">
                <a:tc>
                  <a:txBody>
                    <a:bodyPr anchor="ctr">
                      <a:noAutofit/>
                    </a:bodyPr>
                    <a:p>
                      <a:r>
                        <a:rPr b="0" lang="en-IN" sz="1800" spc="-1" strike="noStrike">
                          <a:latin typeface="Arial"/>
                        </a:rPr>
                        <a:t>Satavisa</a:t>
                      </a:r>
                      <a:endParaRPr b="0" lang="en-IN" sz="1800" spc="-1" strike="noStrike">
                        <a:latin typeface="Arial"/>
                      </a:endParaRPr>
                    </a:p>
                    <a:p>
                      <a:r>
                        <a:rPr b="0" lang="en-IN" sz="1800" spc="-1" strike="noStrike">
                          <a:latin typeface="Arial"/>
                        </a:rPr>
                        <a:t>Deka</a:t>
                      </a:r>
                      <a:endParaRPr b="0" lang="en-IN" sz="1800" spc="-1" strike="noStrike">
                        <a:latin typeface="Arial"/>
                      </a:endParaRPr>
                    </a:p>
                  </a:txBody>
                  <a:tcPr anchor="ctr" marL="91440" marR="91440">
                    <a:lnL w="12240">
                      <a:solidFill>
                        <a:srgbClr val="ffffff"/>
                      </a:solidFill>
                    </a:lnL>
                    <a:lnR w="12240">
                      <a:solidFill>
                        <a:srgbClr val="ffffff"/>
                      </a:solidFill>
                    </a:lnR>
                    <a:lnT w="38160">
                      <a:solidFill>
                        <a:srgbClr val="ffffff"/>
                      </a:solidFill>
                    </a:lnT>
                    <a:lnB w="12240">
                      <a:solidFill>
                        <a:srgbClr val="ffffff"/>
                      </a:solidFill>
                    </a:lnB>
                    <a:solidFill>
                      <a:srgbClr val="d0deef"/>
                    </a:solidFill>
                  </a:tcPr>
                </a:tc>
                <a:tc>
                  <a:tcPr anchor="ctr" marL="91440" marR="91440">
                    <a:lnL w="12240">
                      <a:solidFill>
                        <a:srgbClr val="ffffff"/>
                      </a:solidFill>
                    </a:lnL>
                    <a:lnR w="12240">
                      <a:solidFill>
                        <a:srgbClr val="ffffff"/>
                      </a:solidFill>
                    </a:lnR>
                    <a:lnT w="38160">
                      <a:solidFill>
                        <a:srgbClr val="ffffff"/>
                      </a:solidFill>
                    </a:lnT>
                    <a:lnB w="12240">
                      <a:solidFill>
                        <a:srgbClr val="ffffff"/>
                      </a:solidFill>
                    </a:lnB>
                    <a:solidFill>
                      <a:srgbClr val="d0deef"/>
                    </a:solidFill>
                  </a:tcPr>
                </a:tc>
                <a:tc>
                  <a:txBody>
                    <a:bodyPr anchor="ctr">
                      <a:noAutofit/>
                    </a:bodyPr>
                    <a:p>
                      <a:r>
                        <a:rPr b="0" lang="en-IN" sz="1800" spc="-1" strike="noStrike">
                          <a:latin typeface="Arial"/>
                        </a:rPr>
                        <a:t>Satavisa.bs23@bmsce.ac.in</a:t>
                      </a:r>
                      <a:endParaRPr b="0" lang="en-IN" sz="1800" spc="-1" strike="noStrike">
                        <a:latin typeface="Arial"/>
                      </a:endParaRPr>
                    </a:p>
                  </a:txBody>
                  <a:tcPr anchor="ctr" marL="91440" marR="91440">
                    <a:lnL w="12240">
                      <a:solidFill>
                        <a:srgbClr val="ffffff"/>
                      </a:solidFill>
                    </a:lnL>
                    <a:lnR w="12240">
                      <a:solidFill>
                        <a:srgbClr val="ffffff"/>
                      </a:solidFill>
                    </a:lnR>
                    <a:lnT w="38160">
                      <a:solidFill>
                        <a:srgbClr val="ffffff"/>
                      </a:solidFill>
                    </a:lnT>
                    <a:lnB w="12240">
                      <a:solidFill>
                        <a:srgbClr val="ffffff"/>
                      </a:solidFill>
                    </a:lnB>
                    <a:solidFill>
                      <a:srgbClr val="d0deef"/>
                    </a:solidFill>
                  </a:tcPr>
                </a:tc>
                <a:tc>
                  <a:txBody>
                    <a:bodyPr anchor="ctr">
                      <a:noAutofit/>
                    </a:bodyPr>
                    <a:p>
                      <a:r>
                        <a:rPr b="0" lang="en-IN" sz="1800" spc="-1" strike="noStrike">
                          <a:latin typeface="Arial"/>
                        </a:rPr>
                        <a:t>8099261502</a:t>
                      </a:r>
                      <a:endParaRPr b="0" lang="en-IN" sz="1800" spc="-1" strike="noStrike">
                        <a:latin typeface="Arial"/>
                      </a:endParaRPr>
                    </a:p>
                  </a:txBody>
                  <a:tcPr anchor="ctr" marL="91440" marR="91440">
                    <a:lnL w="12240">
                      <a:solidFill>
                        <a:srgbClr val="ffffff"/>
                      </a:solidFill>
                    </a:lnL>
                    <a:lnR w="12240">
                      <a:solidFill>
                        <a:srgbClr val="ffffff"/>
                      </a:solidFill>
                    </a:lnR>
                    <a:lnT w="38160">
                      <a:solidFill>
                        <a:srgbClr val="ffffff"/>
                      </a:solidFill>
                    </a:lnT>
                    <a:lnB w="12240">
                      <a:solidFill>
                        <a:srgbClr val="ffffff"/>
                      </a:solidFill>
                    </a:lnB>
                    <a:solidFill>
                      <a:srgbClr val="d0deef"/>
                    </a:solidFill>
                  </a:tcPr>
                </a:tc>
              </a:tr>
              <a:tr h="1224360">
                <a:tc>
                  <a:txBody>
                    <a:bodyPr anchor="ctr">
                      <a:noAutofit/>
                    </a:bodyPr>
                    <a:p>
                      <a:r>
                        <a:rPr b="0" lang="en-IN" sz="1800" spc="-1" strike="noStrike">
                          <a:latin typeface="Arial"/>
                        </a:rPr>
                        <a:t>Shuchi</a:t>
                      </a:r>
                      <a:endParaRPr b="0" lang="en-IN" sz="1800" spc="-1" strike="noStrike">
                        <a:latin typeface="Arial"/>
                      </a:endParaRPr>
                    </a:p>
                    <a:p>
                      <a:r>
                        <a:rPr b="0" lang="en-IN" sz="1800" spc="-1" strike="noStrike">
                          <a:latin typeface="Arial"/>
                        </a:rPr>
                        <a:t>Sharma</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c>
                  <a:tcPr anchor="ctr"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c>
                  <a:txBody>
                    <a:bodyPr anchor="ctr">
                      <a:noAutofit/>
                    </a:bodyPr>
                    <a:p>
                      <a:r>
                        <a:rPr b="0" lang="en-IN" sz="1800" spc="-1" strike="noStrike">
                          <a:latin typeface="Arial"/>
                        </a:rPr>
                        <a:t>Shuchisharma.bs23@bmsce.ac.in</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c>
                  <a:txBody>
                    <a:bodyPr anchor="ctr">
                      <a:noAutofit/>
                    </a:bodyPr>
                    <a:p>
                      <a:r>
                        <a:rPr b="0" lang="en-IN" sz="1800" spc="-1" strike="noStrike">
                          <a:latin typeface="Arial"/>
                        </a:rPr>
                        <a:t>8073761419</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r>
              <a:tr h="941400">
                <a:tc>
                  <a:txBody>
                    <a:bodyPr anchor="ctr">
                      <a:noAutofit/>
                    </a:bodyPr>
                    <a:p>
                      <a:r>
                        <a:rPr b="0" lang="en-IN" sz="1800" spc="-1" strike="noStrike">
                          <a:latin typeface="Arial"/>
                        </a:rPr>
                        <a:t>Varun</a:t>
                      </a:r>
                      <a:endParaRPr b="0" lang="en-IN" sz="1800" spc="-1" strike="noStrike">
                        <a:latin typeface="Arial"/>
                      </a:endParaRPr>
                    </a:p>
                    <a:p>
                      <a:r>
                        <a:rPr b="0" lang="en-IN" sz="1800" spc="-1" strike="noStrike">
                          <a:latin typeface="Arial"/>
                        </a:rPr>
                        <a:t>R</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12240">
                      <a:solidFill>
                        <a:srgbClr val="ffffff"/>
                      </a:solidFill>
                    </a:lnB>
                    <a:solidFill>
                      <a:srgbClr val="d0deef"/>
                    </a:solidFill>
                  </a:tcPr>
                </a:tc>
                <a:tc>
                  <a:tcPr anchor="ctr" marL="91440" marR="91440">
                    <a:lnL w="12240">
                      <a:solidFill>
                        <a:srgbClr val="ffffff"/>
                      </a:solidFill>
                    </a:lnL>
                    <a:lnR w="12240">
                      <a:solidFill>
                        <a:srgbClr val="ffffff"/>
                      </a:solidFill>
                    </a:lnR>
                    <a:lnT w="12240">
                      <a:solidFill>
                        <a:srgbClr val="ffffff"/>
                      </a:solidFill>
                    </a:lnT>
                    <a:lnB w="12240">
                      <a:solidFill>
                        <a:srgbClr val="ffffff"/>
                      </a:solidFill>
                    </a:lnB>
                    <a:solidFill>
                      <a:srgbClr val="d0deef"/>
                    </a:solidFill>
                  </a:tcPr>
                </a:tc>
                <a:tc>
                  <a:txBody>
                    <a:bodyPr anchor="ctr">
                      <a:noAutofit/>
                    </a:bodyPr>
                    <a:p>
                      <a:r>
                        <a:rPr b="0" lang="en-IN" sz="1800" spc="-1" strike="noStrike">
                          <a:latin typeface="Arial"/>
                        </a:rPr>
                        <a:t>Varunr.bs23@bmsce.ac.in</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12240">
                      <a:solidFill>
                        <a:srgbClr val="ffffff"/>
                      </a:solidFill>
                    </a:lnB>
                    <a:solidFill>
                      <a:srgbClr val="d0deef"/>
                    </a:solidFill>
                  </a:tcPr>
                </a:tc>
                <a:tc>
                  <a:txBody>
                    <a:bodyPr anchor="ctr">
                      <a:noAutofit/>
                    </a:bodyPr>
                    <a:p>
                      <a:r>
                        <a:rPr b="0" lang="en-IN" sz="1800" spc="-1" strike="noStrike">
                          <a:latin typeface="Arial"/>
                        </a:rPr>
                        <a:t>8088812876</a:t>
                      </a:r>
                      <a:endParaRPr b="0" lang="en-IN" sz="1800" spc="-1" strike="noStrike">
                        <a:latin typeface="Arial"/>
                      </a:endParaRPr>
                    </a:p>
                  </a:txBody>
                  <a:tcPr anchor="ctr" marL="91440" marR="91440">
                    <a:lnL w="12240">
                      <a:solidFill>
                        <a:srgbClr val="ffffff"/>
                      </a:solidFill>
                    </a:lnL>
                    <a:lnR w="12240">
                      <a:solidFill>
                        <a:srgbClr val="ffffff"/>
                      </a:solidFill>
                    </a:lnR>
                    <a:lnT w="12240">
                      <a:solidFill>
                        <a:srgbClr val="ffffff"/>
                      </a:solidFill>
                    </a:lnT>
                    <a:lnB w="12240">
                      <a:solidFill>
                        <a:srgbClr val="ffffff"/>
                      </a:solidFill>
                    </a:lnB>
                    <a:solidFill>
                      <a:srgbClr val="d0deef"/>
                    </a:solidFill>
                  </a:tcPr>
                </a:tc>
              </a:tr>
            </a:tbl>
          </a:graphicData>
        </a:graphic>
      </p:graphicFrame>
      <p:pic>
        <p:nvPicPr>
          <p:cNvPr id="89" name="Picture 3" descr=""/>
          <p:cNvPicPr/>
          <p:nvPr/>
        </p:nvPicPr>
        <p:blipFill>
          <a:blip r:embed="rId1"/>
          <a:stretch/>
        </p:blipFill>
        <p:spPr>
          <a:xfrm>
            <a:off x="335880" y="6315480"/>
            <a:ext cx="11520000" cy="309600"/>
          </a:xfrm>
          <a:prstGeom prst="rect">
            <a:avLst/>
          </a:prstGeom>
          <a:ln w="0">
            <a:noFill/>
          </a:ln>
        </p:spPr>
      </p:pic>
      <p:pic>
        <p:nvPicPr>
          <p:cNvPr id="90" name="" descr=""/>
          <p:cNvPicPr/>
          <p:nvPr/>
        </p:nvPicPr>
        <p:blipFill>
          <a:blip r:embed="rId2"/>
          <a:srcRect l="22957" t="18779" r="21189" b="15601"/>
          <a:stretch/>
        </p:blipFill>
        <p:spPr>
          <a:xfrm>
            <a:off x="4639680" y="2916000"/>
            <a:ext cx="760320" cy="864000"/>
          </a:xfrm>
          <a:prstGeom prst="rect">
            <a:avLst/>
          </a:prstGeom>
          <a:ln w="0">
            <a:noFill/>
          </a:ln>
        </p:spPr>
      </p:pic>
      <p:pic>
        <p:nvPicPr>
          <p:cNvPr id="91" name="" descr=""/>
          <p:cNvPicPr/>
          <p:nvPr/>
        </p:nvPicPr>
        <p:blipFill>
          <a:blip r:embed="rId3"/>
          <a:srcRect l="19717" t="10907" r="17283" b="36596"/>
          <a:stretch/>
        </p:blipFill>
        <p:spPr>
          <a:xfrm>
            <a:off x="4590000" y="3960000"/>
            <a:ext cx="810000" cy="900000"/>
          </a:xfrm>
          <a:prstGeom prst="rect">
            <a:avLst/>
          </a:prstGeom>
          <a:ln w="0">
            <a:noFill/>
          </a:ln>
        </p:spPr>
      </p:pic>
      <p:pic>
        <p:nvPicPr>
          <p:cNvPr id="92" name="" descr=""/>
          <p:cNvPicPr/>
          <p:nvPr/>
        </p:nvPicPr>
        <p:blipFill>
          <a:blip r:embed="rId4"/>
          <a:srcRect l="16217" t="10907" r="17287" b="33977"/>
          <a:stretch/>
        </p:blipFill>
        <p:spPr>
          <a:xfrm>
            <a:off x="4585680" y="5113800"/>
            <a:ext cx="814320" cy="9000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Box 1"/>
          <p:cNvSpPr/>
          <p:nvPr/>
        </p:nvSpPr>
        <p:spPr>
          <a:xfrm>
            <a:off x="804600" y="1188720"/>
            <a:ext cx="7616520" cy="5021640"/>
          </a:xfrm>
          <a:prstGeom prst="rect">
            <a:avLst/>
          </a:prstGeom>
          <a:noFill/>
          <a:ln w="0">
            <a:noFill/>
          </a:ln>
        </p:spPr>
        <p:style>
          <a:lnRef idx="0"/>
          <a:fillRef idx="0"/>
          <a:effectRef idx="0"/>
          <a:fontRef idx="minor"/>
        </p:style>
        <p:txBody>
          <a:bodyPr lIns="90000" rIns="90000" tIns="45000" bIns="45000" anchor="t">
            <a:spAutoFit/>
          </a:bodyPr>
          <a:p>
            <a:r>
              <a:rPr b="1" lang="en-US" sz="1400" spc="-1" strike="noStrike">
                <a:solidFill>
                  <a:srgbClr val="000000"/>
                </a:solidFill>
                <a:latin typeface="Arial"/>
                <a:ea typeface="Arial"/>
              </a:rPr>
              <a:t>The Challenge</a:t>
            </a:r>
            <a:endParaRPr b="0" lang="en-US" sz="1400" spc="-1" strike="noStrike">
              <a:latin typeface="Arial"/>
            </a:endParaRPr>
          </a:p>
          <a:p>
            <a:r>
              <a:rPr b="0" lang="en-US" sz="1400" spc="-1" strike="noStrike">
                <a:solidFill>
                  <a:srgbClr val="000000"/>
                </a:solidFill>
                <a:latin typeface="Arial"/>
                <a:ea typeface="Arial"/>
              </a:rPr>
              <a:t>Preventive healthcare relies on early identification of lifestyle-related health risks. However, patient lifestyle data such as physical activity, sleep patterns, diet logs, and stress indicators are often underutilized. Manual analysis of such data is not scalable. An intelligent assistive system is needed to analyze lifestyle data and highlight potential preventive health risks.</a:t>
            </a:r>
            <a:endParaRPr b="0" lang="en-US" sz="1400" spc="-1" strike="noStrike">
              <a:latin typeface="Arial"/>
            </a:endParaRPr>
          </a:p>
          <a:p>
            <a:endParaRPr b="0" lang="en-US" sz="1400" spc="-1" strike="noStrike">
              <a:latin typeface="Arial"/>
            </a:endParaRPr>
          </a:p>
          <a:p>
            <a:r>
              <a:rPr b="1" lang="en-US" sz="1400" spc="-1" strike="noStrike">
                <a:solidFill>
                  <a:srgbClr val="000000"/>
                </a:solidFill>
                <a:latin typeface="Arial"/>
                <a:ea typeface="Arial"/>
              </a:rPr>
              <a:t>Lifestyle Data Analysis Agent</a:t>
            </a:r>
            <a:endParaRPr b="0" lang="en-US" sz="1400" spc="-1" strike="noStrike">
              <a:latin typeface="Arial"/>
            </a:endParaRPr>
          </a:p>
          <a:p>
            <a:r>
              <a:rPr b="0" lang="en-US" sz="1400" spc="-1" strike="noStrike">
                <a:solidFill>
                  <a:srgbClr val="000000"/>
                </a:solidFill>
                <a:latin typeface="Arial"/>
                <a:ea typeface="Arial"/>
              </a:rPr>
              <a:t>An agent that processes physical activity, sleep, diet, and stress-related data into health summaries.</a:t>
            </a:r>
            <a:endParaRPr b="0" lang="en-US" sz="1400" spc="-1" strike="noStrike">
              <a:latin typeface="Arial"/>
            </a:endParaRPr>
          </a:p>
          <a:p>
            <a:endParaRPr b="0" lang="en-US" sz="1400" spc="-1" strike="noStrike">
              <a:latin typeface="Arial"/>
            </a:endParaRPr>
          </a:p>
          <a:p>
            <a:r>
              <a:rPr b="1" lang="en-US" sz="1400" spc="-1" strike="noStrike">
                <a:solidFill>
                  <a:srgbClr val="000000"/>
                </a:solidFill>
                <a:latin typeface="Arial"/>
                <a:ea typeface="Arial"/>
              </a:rPr>
              <a:t>Preventive Risk Detection Agent</a:t>
            </a:r>
            <a:endParaRPr b="0" lang="en-US" sz="1400" spc="-1" strike="noStrike">
              <a:latin typeface="Arial"/>
            </a:endParaRPr>
          </a:p>
          <a:p>
            <a:r>
              <a:rPr b="0" lang="en-US" sz="1400" spc="-1" strike="noStrike">
                <a:solidFill>
                  <a:srgbClr val="000000"/>
                </a:solidFill>
                <a:latin typeface="Arial"/>
                <a:ea typeface="Arial"/>
              </a:rPr>
              <a:t>An agent that identifies risk patterns associated with lifestyle behaviors using guideline-based references.</a:t>
            </a:r>
            <a:endParaRPr b="0" lang="en-US" sz="1400" spc="-1" strike="noStrike">
              <a:latin typeface="Arial"/>
            </a:endParaRPr>
          </a:p>
          <a:p>
            <a:endParaRPr b="0" lang="en-US" sz="1400" spc="-1" strike="noStrike">
              <a:latin typeface="Arial"/>
            </a:endParaRPr>
          </a:p>
          <a:p>
            <a:r>
              <a:rPr b="1" lang="en-US" sz="1400" spc="-1" strike="noStrike">
                <a:solidFill>
                  <a:srgbClr val="000000"/>
                </a:solidFill>
                <a:latin typeface="Arial"/>
                <a:ea typeface="Arial"/>
              </a:rPr>
              <a:t>Health Advisory Assistant</a:t>
            </a:r>
            <a:endParaRPr b="0" lang="en-US" sz="1400" spc="-1" strike="noStrike">
              <a:latin typeface="Arial"/>
            </a:endParaRPr>
          </a:p>
          <a:p>
            <a:r>
              <a:rPr b="0" lang="en-US" sz="1100" spc="-1" strike="noStrike">
                <a:solidFill>
                  <a:srgbClr val="000000"/>
                </a:solidFill>
                <a:latin typeface="Arial"/>
                <a:ea typeface="Arial"/>
              </a:rPr>
              <a:t>An agent that provides preventive health insights and lifestyle improvement suggestions</a:t>
            </a:r>
            <a:br>
              <a:rPr sz="1400"/>
            </a:br>
            <a:r>
              <a:rPr b="0" lang="en-US" sz="1100" spc="-1" strike="noStrike">
                <a:solidFill>
                  <a:srgbClr val="000000"/>
                </a:solidFill>
                <a:latin typeface="Arial"/>
                <a:ea typeface="Arial"/>
              </a:rPr>
              <a:t> </a:t>
            </a:r>
            <a:r>
              <a:rPr b="0" i="1" lang="en-US" sz="1100" spc="-1" strike="noStrike">
                <a:solidFill>
                  <a:srgbClr val="000000"/>
                </a:solidFill>
                <a:latin typeface="Arial"/>
                <a:ea typeface="Arial"/>
              </a:rPr>
              <a:t>(assistive only).</a:t>
            </a:r>
            <a:endParaRPr b="0" lang="en-US" sz="1100" spc="-1" strike="noStrike">
              <a:latin typeface="Arial"/>
            </a:endParaRPr>
          </a:p>
          <a:p>
            <a:r>
              <a:rPr b="1" lang="en-US" sz="1400" spc="-1" strike="noStrike">
                <a:solidFill>
                  <a:srgbClr val="000000"/>
                </a:solidFill>
                <a:latin typeface="Arial"/>
                <a:ea typeface="Arial"/>
              </a:rPr>
              <a:t>Outcome</a:t>
            </a:r>
            <a:endParaRPr b="0" lang="en-US" sz="1400" spc="-1" strike="noStrike">
              <a:latin typeface="Arial"/>
            </a:endParaRPr>
          </a:p>
          <a:p>
            <a:r>
              <a:rPr b="0" lang="en-US" sz="1400" spc="-1" strike="noStrike">
                <a:solidFill>
                  <a:srgbClr val="000000"/>
                </a:solidFill>
                <a:latin typeface="Arial"/>
                <a:ea typeface="Arial"/>
              </a:rPr>
              <a:t>Supports preventive healthcare awareness and promotes healthier lifestyle choices.</a:t>
            </a:r>
            <a:endParaRPr b="0" lang="en-US" sz="1400" spc="-1" strike="noStrike">
              <a:latin typeface="Arial"/>
            </a:endParaRPr>
          </a:p>
          <a:p>
            <a:r>
              <a:rPr b="0" lang="en-US" sz="1400" spc="-1" strike="noStrike">
                <a:solidFill>
                  <a:srgbClr val="000000"/>
                </a:solidFill>
                <a:latin typeface="Arial"/>
                <a:ea typeface="Arial"/>
              </a:rPr>
              <a:t>Mandatory Tech Stack</a:t>
            </a:r>
            <a:endParaRPr b="0" lang="en-US" sz="1400" spc="-1" strike="noStrike">
              <a:latin typeface="Arial"/>
            </a:endParaRPr>
          </a:p>
          <a:p>
            <a:endParaRPr b="0" lang="en-US" sz="1400" spc="-1" strike="noStrike">
              <a:latin typeface="Arial"/>
            </a:endParaRPr>
          </a:p>
          <a:p>
            <a:r>
              <a:rPr b="0" lang="en-US" sz="1100" spc="-1" strike="noStrike">
                <a:solidFill>
                  <a:srgbClr val="000000"/>
                </a:solidFill>
                <a:latin typeface="Arial"/>
                <a:ea typeface="Arial"/>
              </a:rPr>
              <a:t>Lang Flow using the IBM Granite Model</a:t>
            </a:r>
            <a:br>
              <a:rPr sz="1400"/>
            </a:br>
            <a:r>
              <a:rPr b="0" lang="en-US" sz="1100" spc="-1" strike="noStrike">
                <a:solidFill>
                  <a:srgbClr val="000000"/>
                </a:solidFill>
                <a:latin typeface="Arial"/>
                <a:ea typeface="Arial"/>
              </a:rPr>
              <a:t> (Using RAG on preventive healthcare guidelines and wellness frameworks).</a:t>
            </a:r>
            <a:endParaRPr b="0" lang="en-IN" sz="1100" spc="-1" strike="noStrike">
              <a:latin typeface="Arial"/>
            </a:endParaRPr>
          </a:p>
          <a:p>
            <a:pPr>
              <a:lnSpc>
                <a:spcPct val="100000"/>
              </a:lnSpc>
              <a:buNone/>
            </a:pPr>
            <a:endParaRPr b="0" lang="en-IN" sz="1400" spc="-1" strike="noStrike">
              <a:latin typeface="Arial"/>
            </a:endParaRPr>
          </a:p>
        </p:txBody>
      </p:sp>
      <p:sp>
        <p:nvSpPr>
          <p:cNvPr id="94" name="TextBox 2"/>
          <p:cNvSpPr/>
          <p:nvPr/>
        </p:nvSpPr>
        <p:spPr>
          <a:xfrm>
            <a:off x="804960" y="447840"/>
            <a:ext cx="3226320" cy="456840"/>
          </a:xfrm>
          <a:prstGeom prst="rect">
            <a:avLst/>
          </a:prstGeom>
          <a:noFill/>
          <a:ln w="0">
            <a:noFill/>
          </a:ln>
        </p:spPr>
        <p:style>
          <a:lnRef idx="0"/>
          <a:fillRef idx="0"/>
          <a:effectRef idx="0"/>
          <a:fontRef idx="minor"/>
        </p:style>
        <p:txBody>
          <a:bodyPr numCol="1" spcCol="0" horzOverflow="overflow" vertOverflow="overflow" anchor="t">
            <a:spAutoFit/>
          </a:bodyPr>
          <a:p>
            <a:pPr>
              <a:lnSpc>
                <a:spcPct val="100000"/>
              </a:lnSpc>
              <a:buNone/>
            </a:pPr>
            <a:r>
              <a:rPr b="1" lang="en-US" sz="2400" spc="-1" strike="noStrike">
                <a:solidFill>
                  <a:srgbClr val="000000"/>
                </a:solidFill>
                <a:latin typeface="Arial"/>
                <a:ea typeface="Arial"/>
              </a:rPr>
              <a:t>Problem statement </a:t>
            </a:r>
            <a:endParaRPr b="0" lang="en-IN" sz="2400" spc="-1" strike="noStrike">
              <a:latin typeface="Arial"/>
            </a:endParaRPr>
          </a:p>
        </p:txBody>
      </p:sp>
      <p:pic>
        <p:nvPicPr>
          <p:cNvPr id="95" name="Picture 4" descr=""/>
          <p:cNvPicPr/>
          <p:nvPr/>
        </p:nvPicPr>
        <p:blipFill>
          <a:blip r:embed="rId1"/>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Google Shape;118;p4"/>
          <p:cNvSpPr/>
          <p:nvPr/>
        </p:nvSpPr>
        <p:spPr>
          <a:xfrm>
            <a:off x="324720" y="4502520"/>
            <a:ext cx="2327760" cy="1888920"/>
          </a:xfrm>
          <a:prstGeom prst="rect">
            <a:avLst/>
          </a:prstGeom>
          <a:noFill/>
          <a:ln w="0">
            <a:noFill/>
          </a:ln>
        </p:spPr>
        <p:style>
          <a:lnRef idx="0"/>
          <a:fillRef idx="0"/>
          <a:effectRef idx="0"/>
          <a:fontRef idx="minor"/>
        </p:style>
      </p:sp>
      <p:sp>
        <p:nvSpPr>
          <p:cNvPr id="97" name="TextBox 1"/>
          <p:cNvSpPr/>
          <p:nvPr/>
        </p:nvSpPr>
        <p:spPr>
          <a:xfrm>
            <a:off x="900000" y="1440000"/>
            <a:ext cx="8820000" cy="1155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000000"/>
                </a:solidFill>
                <a:latin typeface="Arial"/>
                <a:ea typeface="Arial"/>
              </a:rPr>
              <a:t>Agentic AI Ecosystem:</a:t>
            </a:r>
            <a:r>
              <a:rPr b="0" lang="en-US" sz="1400" spc="-1" strike="noStrike">
                <a:solidFill>
                  <a:srgbClr val="000000"/>
                </a:solidFill>
                <a:latin typeface="Arial"/>
                <a:ea typeface="Arial"/>
              </a:rPr>
              <a:t> A specialized system of three autonomous agents that mimic a professional medical team.</a:t>
            </a:r>
            <a:endParaRPr b="0" lang="en-IN" sz="1400" spc="-1" strike="noStrike">
              <a:latin typeface="Arial"/>
            </a:endParaRPr>
          </a:p>
          <a:p>
            <a:pPr>
              <a:lnSpc>
                <a:spcPct val="100000"/>
              </a:lnSpc>
              <a:buNone/>
            </a:pPr>
            <a:endParaRPr b="0" lang="en-IN" sz="1400" spc="-1" strike="noStrike">
              <a:latin typeface="Arial"/>
            </a:endParaRPr>
          </a:p>
          <a:p>
            <a:pPr>
              <a:lnSpc>
                <a:spcPct val="100000"/>
              </a:lnSpc>
              <a:buNone/>
            </a:pPr>
            <a:r>
              <a:rPr b="1" lang="en-US" sz="1400" spc="-1" strike="noStrike">
                <a:solidFill>
                  <a:srgbClr val="000000"/>
                </a:solidFill>
                <a:latin typeface="Arial"/>
                <a:ea typeface="Arial"/>
              </a:rPr>
              <a:t>Collaborative Logic:</a:t>
            </a:r>
            <a:r>
              <a:rPr b="0" lang="en-US" sz="1400" spc="-1" strike="noStrike">
                <a:solidFill>
                  <a:srgbClr val="000000"/>
                </a:solidFill>
                <a:latin typeface="Arial"/>
                <a:ea typeface="Arial"/>
              </a:rPr>
              <a:t> The system uses a "Relay Race" architecture where data is cleaned, analyzed against factual databases, and converted into coaching advice through distinct processing stages.</a:t>
            </a:r>
            <a:endParaRPr b="0" lang="en-IN" sz="1400" spc="-1" strike="noStrike">
              <a:latin typeface="Arial"/>
            </a:endParaRPr>
          </a:p>
        </p:txBody>
      </p:sp>
      <p:sp>
        <p:nvSpPr>
          <p:cNvPr id="98" name="TextBox 2"/>
          <p:cNvSpPr/>
          <p:nvPr/>
        </p:nvSpPr>
        <p:spPr>
          <a:xfrm>
            <a:off x="893160" y="741240"/>
            <a:ext cx="4538880" cy="456840"/>
          </a:xfrm>
          <a:prstGeom prst="rect">
            <a:avLst/>
          </a:prstGeom>
          <a:noFill/>
          <a:ln w="0">
            <a:noFill/>
          </a:ln>
        </p:spPr>
        <p:style>
          <a:lnRef idx="0"/>
          <a:fillRef idx="0"/>
          <a:effectRef idx="0"/>
          <a:fontRef idx="minor"/>
        </p:style>
        <p:txBody>
          <a:bodyPr numCol="1" spcCol="0" horzOverflow="overflow" vertOverflow="overflow" anchor="t">
            <a:spAutoFit/>
          </a:bodyPr>
          <a:p>
            <a:pPr>
              <a:lnSpc>
                <a:spcPct val="100000"/>
              </a:lnSpc>
              <a:buNone/>
            </a:pPr>
            <a:r>
              <a:rPr b="1" lang="en-US" sz="2400" spc="-1" strike="noStrike">
                <a:solidFill>
                  <a:srgbClr val="000000"/>
                </a:solidFill>
                <a:latin typeface="Arial"/>
                <a:ea typeface="Arial"/>
              </a:rPr>
              <a:t>Proposed solution </a:t>
            </a:r>
            <a:endParaRPr b="0" lang="en-IN" sz="2400" spc="-1" strike="noStrike">
              <a:latin typeface="Arial"/>
            </a:endParaRPr>
          </a:p>
        </p:txBody>
      </p:sp>
      <p:pic>
        <p:nvPicPr>
          <p:cNvPr id="99" name="Picture 4" descr=""/>
          <p:cNvPicPr/>
          <p:nvPr/>
        </p:nvPicPr>
        <p:blipFill>
          <a:blip r:embed="rId1"/>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Google Shape;118;p4"/>
          <p:cNvSpPr/>
          <p:nvPr/>
        </p:nvSpPr>
        <p:spPr>
          <a:xfrm>
            <a:off x="324720" y="4502520"/>
            <a:ext cx="2327760" cy="1888920"/>
          </a:xfrm>
          <a:prstGeom prst="rect">
            <a:avLst/>
          </a:prstGeom>
          <a:noFill/>
          <a:ln w="0">
            <a:noFill/>
          </a:ln>
        </p:spPr>
        <p:style>
          <a:lnRef idx="0"/>
          <a:fillRef idx="0"/>
          <a:effectRef idx="0"/>
          <a:fontRef idx="minor"/>
        </p:style>
      </p:sp>
      <p:sp>
        <p:nvSpPr>
          <p:cNvPr id="101" name="TextBox 1"/>
          <p:cNvSpPr/>
          <p:nvPr/>
        </p:nvSpPr>
        <p:spPr>
          <a:xfrm>
            <a:off x="1005840" y="1584000"/>
            <a:ext cx="10268280" cy="37126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Arial"/>
                <a:ea typeface="Arial"/>
              </a:rPr>
              <a:t>In today’s fast-paced lifestyle, health issues are increasingly driven by poor daily habits such as lack of physical activity, irregular sleep, unhealthy diet, and high stress levels. However:</a:t>
            </a:r>
            <a:endParaRPr b="0" lang="en-IN" sz="1400" spc="-1" strike="noStrike">
              <a:latin typeface="Arial"/>
            </a:endParaRPr>
          </a:p>
          <a:p>
            <a:pPr>
              <a:lnSpc>
                <a:spcPct val="100000"/>
              </a:lnSpc>
              <a:buNone/>
            </a:pPr>
            <a:endParaRPr b="0" lang="en-IN" sz="1400" spc="-1" strike="noStrike">
              <a:latin typeface="Arial"/>
            </a:endParaRPr>
          </a:p>
          <a:p>
            <a:pPr marL="216000" indent="-216000">
              <a:lnSpc>
                <a:spcPct val="100000"/>
              </a:lnSpc>
              <a:buClr>
                <a:srgbClr val="000000"/>
              </a:buClr>
              <a:buFont typeface="Arial"/>
              <a:buChar char="●"/>
            </a:pPr>
            <a:r>
              <a:rPr b="0" lang="en-US" sz="1400" spc="-1" strike="noStrike">
                <a:solidFill>
                  <a:srgbClr val="000000"/>
                </a:solidFill>
                <a:latin typeface="Arial"/>
                <a:ea typeface="Arial"/>
              </a:rPr>
              <a:t>Most people ignore early warning signs of lifestyle-related health risks</a:t>
            </a:r>
            <a:endParaRPr b="0" lang="en-IN" sz="1400" spc="-1" strike="noStrike">
              <a:latin typeface="Arial"/>
            </a:endParaRPr>
          </a:p>
          <a:p>
            <a:pPr marL="216000" indent="-216000">
              <a:lnSpc>
                <a:spcPct val="100000"/>
              </a:lnSpc>
              <a:buClr>
                <a:srgbClr val="000000"/>
              </a:buClr>
              <a:buFont typeface="Arial"/>
              <a:buChar char="●"/>
            </a:pPr>
            <a:r>
              <a:rPr b="0" lang="en-US" sz="1400" spc="-1" strike="noStrike">
                <a:solidFill>
                  <a:srgbClr val="000000"/>
                </a:solidFill>
                <a:latin typeface="Arial"/>
                <a:ea typeface="Arial"/>
              </a:rPr>
              <a:t>Manual monitoring and interpretation of lifestyle data is complex and not scalable</a:t>
            </a:r>
            <a:endParaRPr b="0" lang="en-IN" sz="1400" spc="-1" strike="noStrike">
              <a:latin typeface="Arial"/>
            </a:endParaRPr>
          </a:p>
          <a:p>
            <a:pPr marL="216000" indent="-216000">
              <a:lnSpc>
                <a:spcPct val="100000"/>
              </a:lnSpc>
              <a:buClr>
                <a:srgbClr val="000000"/>
              </a:buClr>
              <a:buFont typeface="Arial"/>
              <a:buChar char="●"/>
            </a:pPr>
            <a:r>
              <a:rPr b="0" lang="en-US" sz="1400" spc="-1" strike="noStrike">
                <a:solidFill>
                  <a:srgbClr val="000000"/>
                </a:solidFill>
                <a:latin typeface="Arial"/>
                <a:ea typeface="Arial"/>
              </a:rPr>
              <a:t>Existing health applications provide generic recommendations, lacking personalization</a:t>
            </a:r>
            <a:endParaRPr b="0" lang="en-IN" sz="1400" spc="-1" strike="noStrike">
              <a:latin typeface="Arial"/>
            </a:endParaRPr>
          </a:p>
          <a:p>
            <a:pPr marL="216000" indent="-216000">
              <a:lnSpc>
                <a:spcPct val="100000"/>
              </a:lnSpc>
              <a:buClr>
                <a:srgbClr val="000000"/>
              </a:buClr>
              <a:buFont typeface="Arial"/>
              <a:buChar char="●"/>
            </a:pPr>
            <a:r>
              <a:rPr b="0" lang="en-US" sz="1400" spc="-1" strike="noStrike">
                <a:solidFill>
                  <a:srgbClr val="000000"/>
                </a:solidFill>
                <a:latin typeface="Arial"/>
                <a:ea typeface="Arial"/>
              </a:rPr>
              <a:t>Preventive healthcare is often overlooked in favor of reactive treatment</a:t>
            </a:r>
            <a:endParaRPr b="0" lang="en-IN" sz="1400" spc="-1" strike="noStrike">
              <a:latin typeface="Arial"/>
            </a:endParaRPr>
          </a:p>
          <a:p>
            <a:pPr>
              <a:lnSpc>
                <a:spcPct val="100000"/>
              </a:lnSpc>
              <a:buNone/>
            </a:pPr>
            <a:endParaRPr b="0" lang="en-IN" sz="1400" spc="-1" strike="noStrike">
              <a:latin typeface="Arial"/>
            </a:endParaRPr>
          </a:p>
          <a:p>
            <a:pPr>
              <a:lnSpc>
                <a:spcPct val="100000"/>
              </a:lnSpc>
              <a:buNone/>
            </a:pPr>
            <a:r>
              <a:rPr b="0" lang="en-US" sz="1400" spc="-1" strike="noStrike">
                <a:solidFill>
                  <a:srgbClr val="000000"/>
                </a:solidFill>
                <a:latin typeface="Arial"/>
                <a:ea typeface="Arial"/>
              </a:rPr>
              <a:t>Therefore, there is a strong need for:</a:t>
            </a:r>
            <a:endParaRPr b="0" lang="en-IN" sz="1400" spc="-1" strike="noStrike">
              <a:latin typeface="Arial"/>
            </a:endParaRPr>
          </a:p>
          <a:p>
            <a:pPr>
              <a:lnSpc>
                <a:spcPct val="100000"/>
              </a:lnSpc>
              <a:buNone/>
            </a:pPr>
            <a:endParaRPr b="0" lang="en-IN" sz="1400" spc="-1" strike="noStrike">
              <a:latin typeface="Arial"/>
            </a:endParaRPr>
          </a:p>
          <a:p>
            <a:pPr marL="216000" indent="-216000">
              <a:lnSpc>
                <a:spcPct val="100000"/>
              </a:lnSpc>
              <a:buClr>
                <a:srgbClr val="000000"/>
              </a:buClr>
              <a:buFont typeface="Arial"/>
              <a:buChar char="●"/>
            </a:pPr>
            <a:r>
              <a:rPr b="0" lang="en-US" sz="1400" spc="-1" strike="noStrike">
                <a:solidFill>
                  <a:srgbClr val="000000"/>
                </a:solidFill>
                <a:latin typeface="Arial"/>
                <a:ea typeface="Arial"/>
              </a:rPr>
              <a:t>An intelligent, automated system that continuously analyzes lifestyle behavior</a:t>
            </a:r>
            <a:endParaRPr b="0" lang="en-IN" sz="1400" spc="-1" strike="noStrike">
              <a:latin typeface="Arial"/>
            </a:endParaRPr>
          </a:p>
          <a:p>
            <a:pPr marL="216000" indent="-216000">
              <a:lnSpc>
                <a:spcPct val="100000"/>
              </a:lnSpc>
              <a:buClr>
                <a:srgbClr val="000000"/>
              </a:buClr>
              <a:buFont typeface="Arial"/>
              <a:buChar char="●"/>
            </a:pPr>
            <a:r>
              <a:rPr b="0" lang="en-US" sz="1400" spc="-1" strike="noStrike">
                <a:solidFill>
                  <a:srgbClr val="000000"/>
                </a:solidFill>
                <a:latin typeface="Arial"/>
                <a:ea typeface="Arial"/>
              </a:rPr>
              <a:t>Early identification of preventive health risks before they become serious</a:t>
            </a:r>
            <a:endParaRPr b="0" lang="en-IN" sz="1400" spc="-1" strike="noStrike">
              <a:latin typeface="Arial"/>
            </a:endParaRPr>
          </a:p>
          <a:p>
            <a:pPr marL="216000" indent="-216000">
              <a:lnSpc>
                <a:spcPct val="100000"/>
              </a:lnSpc>
              <a:buClr>
                <a:srgbClr val="000000"/>
              </a:buClr>
              <a:buFont typeface="Arial"/>
              <a:buChar char="●"/>
            </a:pPr>
            <a:r>
              <a:rPr b="0" lang="en-US" sz="1400" spc="-1" strike="noStrike">
                <a:solidFill>
                  <a:srgbClr val="000000"/>
                </a:solidFill>
                <a:latin typeface="Arial"/>
                <a:ea typeface="Arial"/>
              </a:rPr>
              <a:t>Personalized, assistive lifestyle guidance</a:t>
            </a:r>
            <a:endParaRPr b="0" lang="en-IN" sz="1400" spc="-1" strike="noStrike">
              <a:latin typeface="Arial"/>
            </a:endParaRPr>
          </a:p>
          <a:p>
            <a:pPr>
              <a:lnSpc>
                <a:spcPct val="100000"/>
              </a:lnSpc>
              <a:buNone/>
            </a:pPr>
            <a:endParaRPr b="0" lang="en-IN" sz="1400" spc="-1" strike="noStrike">
              <a:latin typeface="Arial"/>
            </a:endParaRPr>
          </a:p>
          <a:p>
            <a:pPr>
              <a:lnSpc>
                <a:spcPct val="100000"/>
              </a:lnSpc>
              <a:buNone/>
            </a:pPr>
            <a:r>
              <a:rPr b="0" lang="en-US" sz="1400" spc="-1" strike="noStrike">
                <a:solidFill>
                  <a:srgbClr val="000000"/>
                </a:solidFill>
                <a:latin typeface="Arial"/>
                <a:ea typeface="Arial"/>
              </a:rPr>
              <a:t>A scalable solution that promotes preventive healthcare awareness</a:t>
            </a:r>
            <a:endParaRPr b="0" lang="en-IN" sz="1400" spc="-1" strike="noStrike">
              <a:latin typeface="Arial"/>
            </a:endParaRPr>
          </a:p>
          <a:p>
            <a:pPr>
              <a:lnSpc>
                <a:spcPct val="100000"/>
              </a:lnSpc>
              <a:buNone/>
            </a:pPr>
            <a:endParaRPr b="0" lang="en-IN" sz="1400" spc="-1" strike="noStrike">
              <a:latin typeface="Arial"/>
            </a:endParaRPr>
          </a:p>
          <a:p>
            <a:pPr>
              <a:lnSpc>
                <a:spcPct val="100000"/>
              </a:lnSpc>
              <a:buNone/>
            </a:pPr>
            <a:r>
              <a:rPr b="0" lang="en-US" sz="1400" spc="-1" strike="noStrike">
                <a:solidFill>
                  <a:srgbClr val="000000"/>
                </a:solidFill>
                <a:latin typeface="Arial"/>
                <a:ea typeface="Arial"/>
              </a:rPr>
              <a:t>This project bridges the gap between raw lifestyle data and meaningful preventive health insights using Agentic AI.</a:t>
            </a:r>
            <a:endParaRPr b="0" lang="en-IN" sz="1400" spc="-1" strike="noStrike">
              <a:latin typeface="Arial"/>
            </a:endParaRPr>
          </a:p>
        </p:txBody>
      </p:sp>
      <p:sp>
        <p:nvSpPr>
          <p:cNvPr id="102" name="TextBox 2"/>
          <p:cNvSpPr/>
          <p:nvPr/>
        </p:nvSpPr>
        <p:spPr>
          <a:xfrm>
            <a:off x="1034280" y="524880"/>
            <a:ext cx="5496120" cy="456840"/>
          </a:xfrm>
          <a:prstGeom prst="rect">
            <a:avLst/>
          </a:prstGeom>
          <a:noFill/>
          <a:ln w="0">
            <a:noFill/>
          </a:ln>
        </p:spPr>
        <p:style>
          <a:lnRef idx="0"/>
          <a:fillRef idx="0"/>
          <a:effectRef idx="0"/>
          <a:fontRef idx="minor"/>
        </p:style>
        <p:txBody>
          <a:bodyPr numCol="1" spcCol="0" horzOverflow="overflow" vertOverflow="overflow" anchor="t">
            <a:spAutoFit/>
          </a:bodyPr>
          <a:p>
            <a:pPr>
              <a:lnSpc>
                <a:spcPct val="100000"/>
              </a:lnSpc>
              <a:buNone/>
            </a:pPr>
            <a:r>
              <a:rPr b="1" lang="en-US" sz="2400" spc="-1" strike="noStrike">
                <a:solidFill>
                  <a:srgbClr val="000000"/>
                </a:solidFill>
                <a:latin typeface="Arial"/>
                <a:ea typeface="Arial"/>
              </a:rPr>
              <a:t>Need of project </a:t>
            </a:r>
            <a:endParaRPr b="0" lang="en-IN" sz="2400" spc="-1" strike="noStrike">
              <a:latin typeface="Arial"/>
            </a:endParaRPr>
          </a:p>
        </p:txBody>
      </p:sp>
      <p:pic>
        <p:nvPicPr>
          <p:cNvPr id="103" name="Picture 4" descr=""/>
          <p:cNvPicPr/>
          <p:nvPr/>
        </p:nvPicPr>
        <p:blipFill>
          <a:blip r:embed="rId1"/>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Google Shape;118;p4"/>
          <p:cNvSpPr/>
          <p:nvPr/>
        </p:nvSpPr>
        <p:spPr>
          <a:xfrm>
            <a:off x="324720" y="4502520"/>
            <a:ext cx="2327760" cy="1888920"/>
          </a:xfrm>
          <a:prstGeom prst="rect">
            <a:avLst/>
          </a:prstGeom>
          <a:noFill/>
          <a:ln w="0">
            <a:noFill/>
          </a:ln>
        </p:spPr>
        <p:style>
          <a:lnRef idx="0"/>
          <a:fillRef idx="0"/>
          <a:effectRef idx="0"/>
          <a:fontRef idx="minor"/>
        </p:style>
      </p:sp>
      <p:sp>
        <p:nvSpPr>
          <p:cNvPr id="105" name="TextBox 1"/>
          <p:cNvSpPr/>
          <p:nvPr/>
        </p:nvSpPr>
        <p:spPr>
          <a:xfrm>
            <a:off x="1005840" y="1620000"/>
            <a:ext cx="10268280" cy="7290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Arial"/>
              <a:buChar char="●"/>
            </a:pPr>
            <a:r>
              <a:rPr b="1" lang="en-US" sz="1400" spc="-1" strike="noStrike">
                <a:solidFill>
                  <a:srgbClr val="000000"/>
                </a:solidFill>
                <a:latin typeface="Arial"/>
                <a:ea typeface="Arial"/>
              </a:rPr>
              <a:t>Sedentary Professionals:</a:t>
            </a:r>
            <a:r>
              <a:rPr b="0" lang="en-US" sz="1400" spc="-1" strike="noStrike">
                <a:solidFill>
                  <a:srgbClr val="000000"/>
                </a:solidFill>
                <a:latin typeface="Arial"/>
                <a:ea typeface="Arial"/>
              </a:rPr>
              <a:t> Office workers needing to manage stress and activity levels.</a:t>
            </a:r>
            <a:endParaRPr b="0" lang="en-IN" sz="1400" spc="-1" strike="noStrike">
              <a:latin typeface="Arial"/>
            </a:endParaRPr>
          </a:p>
          <a:p>
            <a:pPr marL="216000" indent="-216000">
              <a:lnSpc>
                <a:spcPct val="100000"/>
              </a:lnSpc>
              <a:buClr>
                <a:srgbClr val="000000"/>
              </a:buClr>
              <a:buFont typeface="Arial"/>
              <a:buChar char="●"/>
            </a:pPr>
            <a:r>
              <a:rPr b="1" lang="en-US" sz="1400" spc="-1" strike="noStrike">
                <a:solidFill>
                  <a:srgbClr val="000000"/>
                </a:solidFill>
                <a:latin typeface="Arial"/>
                <a:ea typeface="Arial"/>
              </a:rPr>
              <a:t>Health-Conscious Students: </a:t>
            </a:r>
            <a:r>
              <a:rPr b="0" lang="en-US" sz="1400" spc="-1" strike="noStrike">
                <a:solidFill>
                  <a:srgbClr val="000000"/>
                </a:solidFill>
                <a:latin typeface="Arial"/>
                <a:ea typeface="Arial"/>
              </a:rPr>
              <a:t>Individuals looking to optimize sleep and nutrition during high-stress periods.</a:t>
            </a:r>
            <a:endParaRPr b="0" lang="en-IN" sz="1400" spc="-1" strike="noStrike">
              <a:latin typeface="Arial"/>
            </a:endParaRPr>
          </a:p>
          <a:p>
            <a:pPr marL="216000" indent="-216000">
              <a:lnSpc>
                <a:spcPct val="100000"/>
              </a:lnSpc>
              <a:buClr>
                <a:srgbClr val="000000"/>
              </a:buClr>
              <a:buFont typeface="Arial"/>
              <a:buChar char="●"/>
            </a:pPr>
            <a:r>
              <a:rPr b="1" lang="en-US" sz="1400" spc="-1" strike="noStrike">
                <a:solidFill>
                  <a:srgbClr val="000000"/>
                </a:solidFill>
                <a:latin typeface="Arial"/>
                <a:ea typeface="Arial"/>
              </a:rPr>
              <a:t>Remote Clinics: </a:t>
            </a:r>
            <a:r>
              <a:rPr b="0" lang="en-US" sz="1400" spc="-1" strike="noStrike">
                <a:solidFill>
                  <a:srgbClr val="000000"/>
                </a:solidFill>
                <a:latin typeface="Arial"/>
                <a:ea typeface="Arial"/>
              </a:rPr>
              <a:t>Can act as a preliminary screening tool for community health workers.</a:t>
            </a:r>
            <a:endParaRPr b="0" lang="en-IN" sz="1400" spc="-1" strike="noStrike">
              <a:latin typeface="Arial"/>
            </a:endParaRPr>
          </a:p>
        </p:txBody>
      </p:sp>
      <p:sp>
        <p:nvSpPr>
          <p:cNvPr id="106" name="TextBox 2"/>
          <p:cNvSpPr/>
          <p:nvPr/>
        </p:nvSpPr>
        <p:spPr>
          <a:xfrm>
            <a:off x="1034280" y="524880"/>
            <a:ext cx="5496120" cy="456840"/>
          </a:xfrm>
          <a:prstGeom prst="rect">
            <a:avLst/>
          </a:prstGeom>
          <a:noFill/>
          <a:ln w="0">
            <a:noFill/>
          </a:ln>
        </p:spPr>
        <p:style>
          <a:lnRef idx="0"/>
          <a:fillRef idx="0"/>
          <a:effectRef idx="0"/>
          <a:fontRef idx="minor"/>
        </p:style>
        <p:txBody>
          <a:bodyPr numCol="1" spcCol="0" horzOverflow="overflow" vertOverflow="overflow" anchor="t">
            <a:spAutoFit/>
          </a:bodyPr>
          <a:p>
            <a:pPr>
              <a:lnSpc>
                <a:spcPct val="100000"/>
              </a:lnSpc>
              <a:buNone/>
            </a:pPr>
            <a:r>
              <a:rPr b="1" lang="en-US" sz="2400" spc="-1" strike="noStrike">
                <a:solidFill>
                  <a:srgbClr val="000000"/>
                </a:solidFill>
                <a:latin typeface="Arial"/>
                <a:ea typeface="Arial"/>
              </a:rPr>
              <a:t>End user of project</a:t>
            </a:r>
            <a:endParaRPr b="0" lang="en-IN" sz="2400" spc="-1" strike="noStrike">
              <a:latin typeface="Arial"/>
            </a:endParaRPr>
          </a:p>
        </p:txBody>
      </p:sp>
      <p:pic>
        <p:nvPicPr>
          <p:cNvPr id="107" name="Picture 4" descr=""/>
          <p:cNvPicPr/>
          <p:nvPr/>
        </p:nvPicPr>
        <p:blipFill>
          <a:blip r:embed="rId1"/>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Box 1"/>
          <p:cNvSpPr/>
          <p:nvPr/>
        </p:nvSpPr>
        <p:spPr>
          <a:xfrm>
            <a:off x="777240" y="484560"/>
            <a:ext cx="712296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Arial"/>
                <a:ea typeface="Arial"/>
              </a:rPr>
              <a:t>Technology Used</a:t>
            </a:r>
            <a:endParaRPr b="0" lang="en-IN" sz="2400" spc="-1" strike="noStrike">
              <a:latin typeface="Arial"/>
            </a:endParaRPr>
          </a:p>
        </p:txBody>
      </p:sp>
      <p:sp>
        <p:nvSpPr>
          <p:cNvPr id="109" name="TextBox 2"/>
          <p:cNvSpPr/>
          <p:nvPr/>
        </p:nvSpPr>
        <p:spPr>
          <a:xfrm>
            <a:off x="900000" y="1260000"/>
            <a:ext cx="10515240" cy="408276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0" lang="en-US" sz="1800" spc="-1" strike="noStrike">
                <a:solidFill>
                  <a:srgbClr val="000000"/>
                </a:solidFill>
                <a:latin typeface="Arial"/>
                <a:ea typeface="Arial"/>
              </a:rPr>
              <a:t>Langflow platform</a:t>
            </a:r>
            <a:endParaRPr b="0" lang="en-IN" sz="1800" spc="-1" strike="noStrike">
              <a:latin typeface="Arial"/>
            </a:endParaRPr>
          </a:p>
          <a:p>
            <a:pPr>
              <a:lnSpc>
                <a:spcPct val="100000"/>
              </a:lnSpc>
              <a:buNone/>
            </a:pPr>
            <a:endParaRPr b="0" lang="en-IN"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Arial"/>
                <a:ea typeface="Arial"/>
              </a:rPr>
              <a:t>Langflow component name –  Agent  , Chat input , Chat output </a:t>
            </a:r>
            <a:endParaRPr b="0" lang="en-IN" sz="1800" spc="-1" strike="noStrike">
              <a:latin typeface="Arial"/>
            </a:endParaRPr>
          </a:p>
          <a:p>
            <a:pPr>
              <a:lnSpc>
                <a:spcPct val="100000"/>
              </a:lnSpc>
              <a:buNone/>
            </a:pPr>
            <a:endParaRPr b="0" lang="en-IN"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Arial"/>
                <a:ea typeface="Arial"/>
              </a:rPr>
              <a:t>IBM Grainte model -  for eg – ibm-granite-3-2-8b   </a:t>
            </a:r>
            <a:endParaRPr b="0" lang="en-IN" sz="1800" spc="-1" strike="noStrike">
              <a:latin typeface="Arial"/>
            </a:endParaRPr>
          </a:p>
          <a:p>
            <a:pPr>
              <a:lnSpc>
                <a:spcPct val="100000"/>
              </a:lnSpc>
              <a:buNone/>
            </a:pPr>
            <a:endParaRPr b="0" lang="en-IN"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Arial"/>
                <a:ea typeface="Arial"/>
              </a:rPr>
              <a:t>IBM Cloud </a:t>
            </a:r>
            <a:endParaRPr b="0" lang="en-IN" sz="1800" spc="-1" strike="noStrike">
              <a:latin typeface="Arial"/>
            </a:endParaRPr>
          </a:p>
          <a:p>
            <a:pPr>
              <a:lnSpc>
                <a:spcPct val="100000"/>
              </a:lnSpc>
              <a:buNone/>
            </a:pPr>
            <a:endParaRPr b="0" lang="en-IN"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Arial"/>
                <a:ea typeface="Arial"/>
              </a:rPr>
              <a:t>IBM Watsonx.ai</a:t>
            </a:r>
            <a:endParaRPr b="0" lang="en-IN" sz="1800" spc="-1" strike="noStrike">
              <a:latin typeface="Arial"/>
            </a:endParaRPr>
          </a:p>
          <a:p>
            <a:pPr>
              <a:lnSpc>
                <a:spcPct val="100000"/>
              </a:lnSpc>
              <a:buNone/>
            </a:pPr>
            <a:endParaRPr b="0" lang="en-IN"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Arial"/>
                <a:ea typeface="Arial"/>
              </a:rPr>
              <a:t>Watsonx</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400" spc="-1" strike="noStrike">
              <a:latin typeface="Arial"/>
            </a:endParaRPr>
          </a:p>
          <a:p>
            <a:pPr>
              <a:lnSpc>
                <a:spcPct val="100000"/>
              </a:lnSpc>
              <a:buNone/>
            </a:pPr>
            <a:endParaRPr b="0" lang="en-IN" sz="1400" spc="-1" strike="noStrike">
              <a:latin typeface="Arial"/>
            </a:endParaRPr>
          </a:p>
        </p:txBody>
      </p:sp>
      <p:pic>
        <p:nvPicPr>
          <p:cNvPr id="110" name="Picture 4" descr=""/>
          <p:cNvPicPr/>
          <p:nvPr/>
        </p:nvPicPr>
        <p:blipFill>
          <a:blip r:embed="rId1"/>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Google Shape;278;p18"/>
          <p:cNvSpPr/>
          <p:nvPr/>
        </p:nvSpPr>
        <p:spPr>
          <a:xfrm>
            <a:off x="1218600" y="475560"/>
            <a:ext cx="6444000" cy="703800"/>
          </a:xfrm>
          <a:prstGeom prst="rect">
            <a:avLst/>
          </a:prstGeom>
          <a:noFill/>
          <a:ln w="0">
            <a:noFill/>
          </a:ln>
        </p:spPr>
        <p:style>
          <a:lnRef idx="0"/>
          <a:fillRef idx="0"/>
          <a:effectRef idx="0"/>
          <a:fontRef idx="minor"/>
        </p:style>
        <p:txBody>
          <a:bodyPr lIns="0" rIns="0" tIns="0" bIns="0" anchor="t">
            <a:noAutofit/>
          </a:bodyPr>
          <a:p>
            <a:pPr>
              <a:lnSpc>
                <a:spcPct val="157000"/>
              </a:lnSpc>
              <a:buNone/>
              <a:tabLst>
                <a:tab algn="l" pos="0"/>
              </a:tabLst>
            </a:pPr>
            <a:r>
              <a:rPr b="1" lang="en-US" sz="3500" spc="-1" strike="noStrike">
                <a:solidFill>
                  <a:srgbClr val="051d3a"/>
                </a:solidFill>
                <a:latin typeface="Times New Roman"/>
                <a:ea typeface="Times New Roman"/>
              </a:rPr>
              <a:t>Novelty and Uniqueness</a:t>
            </a:r>
            <a:endParaRPr b="0" lang="en-IN" sz="3500" spc="-1" strike="noStrike">
              <a:latin typeface="Arial"/>
            </a:endParaRPr>
          </a:p>
        </p:txBody>
      </p:sp>
      <p:sp>
        <p:nvSpPr>
          <p:cNvPr id="112" name="Google Shape;279;p18"/>
          <p:cNvSpPr/>
          <p:nvPr/>
        </p:nvSpPr>
        <p:spPr>
          <a:xfrm>
            <a:off x="1064160" y="158364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buNone/>
              <a:tabLst>
                <a:tab algn="l" pos="0"/>
              </a:tabLst>
            </a:pPr>
            <a:r>
              <a:rPr b="1" lang="en-US" sz="1300" spc="-1" strike="noStrike">
                <a:solidFill>
                  <a:srgbClr val="2b3541"/>
                </a:solidFill>
                <a:latin typeface="Times New Roman"/>
                <a:ea typeface="Times New Roman"/>
              </a:rPr>
              <a:t>Agentic AI Architecture:</a:t>
            </a:r>
            <a:endParaRPr b="0" lang="en-IN" sz="1300" spc="-1" strike="noStrike">
              <a:latin typeface="Arial"/>
            </a:endParaRPr>
          </a:p>
          <a:p>
            <a:pPr>
              <a:lnSpc>
                <a:spcPct val="162000"/>
              </a:lnSpc>
              <a:buNone/>
              <a:tabLst>
                <a:tab algn="l" pos="0"/>
              </a:tabLst>
            </a:pPr>
            <a:r>
              <a:rPr b="0" lang="en-US" sz="1300" spc="-1" strike="noStrike">
                <a:solidFill>
                  <a:srgbClr val="2b3541"/>
                </a:solidFill>
                <a:latin typeface="Times New Roman"/>
                <a:ea typeface="Times New Roman"/>
              </a:rPr>
              <a:t>Uses multiple intelligent agents for lifestyle analysis, risk detection, and health advisory, enabling modular, scalable, and explainable AI workflows.</a:t>
            </a:r>
            <a:endParaRPr b="0" lang="en-IN" sz="1300" spc="-1" strike="noStrike">
              <a:latin typeface="Arial"/>
            </a:endParaRPr>
          </a:p>
          <a:p>
            <a:pPr>
              <a:lnSpc>
                <a:spcPct val="162000"/>
              </a:lnSpc>
              <a:buNone/>
              <a:tabLst>
                <a:tab algn="l" pos="0"/>
              </a:tabLst>
            </a:pPr>
            <a:r>
              <a:rPr b="1" lang="en-US" sz="1300" spc="-1" strike="noStrike">
                <a:solidFill>
                  <a:srgbClr val="2b3541"/>
                </a:solidFill>
                <a:latin typeface="Times New Roman"/>
                <a:ea typeface="Times New Roman"/>
              </a:rPr>
              <a:t>Preventive-First Approach:</a:t>
            </a:r>
            <a:endParaRPr b="0" lang="en-IN" sz="1300" spc="-1" strike="noStrike">
              <a:latin typeface="Arial"/>
            </a:endParaRPr>
          </a:p>
          <a:p>
            <a:pPr>
              <a:lnSpc>
                <a:spcPct val="162000"/>
              </a:lnSpc>
              <a:buNone/>
              <a:tabLst>
                <a:tab algn="l" pos="0"/>
              </a:tabLst>
            </a:pPr>
            <a:r>
              <a:rPr b="0" lang="en-US" sz="1300" spc="-1" strike="noStrike">
                <a:solidFill>
                  <a:srgbClr val="2b3541"/>
                </a:solidFill>
                <a:latin typeface="Times New Roman"/>
                <a:ea typeface="Times New Roman"/>
              </a:rPr>
              <a:t>Focuses on early lifestyle risk identification rather than disease diagnosis, promoting long-term health awareness.</a:t>
            </a:r>
            <a:endParaRPr b="0" lang="en-IN" sz="1300" spc="-1" strike="noStrike">
              <a:latin typeface="Arial"/>
            </a:endParaRPr>
          </a:p>
          <a:p>
            <a:pPr>
              <a:lnSpc>
                <a:spcPct val="162000"/>
              </a:lnSpc>
              <a:buNone/>
              <a:tabLst>
                <a:tab algn="l" pos="0"/>
              </a:tabLst>
            </a:pPr>
            <a:r>
              <a:rPr b="1" lang="en-US" sz="1300" spc="-1" strike="noStrike">
                <a:solidFill>
                  <a:srgbClr val="2b3541"/>
                </a:solidFill>
                <a:latin typeface="Times New Roman"/>
                <a:ea typeface="Times New Roman"/>
              </a:rPr>
              <a:t>Guideline-Backed AI using RAG:</a:t>
            </a:r>
            <a:endParaRPr b="0" lang="en-IN" sz="1300" spc="-1" strike="noStrike">
              <a:latin typeface="Arial"/>
            </a:endParaRPr>
          </a:p>
          <a:p>
            <a:pPr>
              <a:lnSpc>
                <a:spcPct val="162000"/>
              </a:lnSpc>
              <a:buNone/>
              <a:tabLst>
                <a:tab algn="l" pos="0"/>
              </a:tabLst>
            </a:pPr>
            <a:r>
              <a:rPr b="0" lang="en-US" sz="1300" spc="-1" strike="noStrike">
                <a:solidFill>
                  <a:srgbClr val="2b3541"/>
                </a:solidFill>
                <a:latin typeface="Times New Roman"/>
                <a:ea typeface="Times New Roman"/>
              </a:rPr>
              <a:t>Integrates preventive healthcare guidelines and wellness frameworks through Retrieval-Augmented Generation, ensuring evidence-based and trustworthy insights.</a:t>
            </a:r>
            <a:endParaRPr b="0" lang="en-IN" sz="1300" spc="-1" strike="noStrike">
              <a:latin typeface="Arial"/>
            </a:endParaRPr>
          </a:p>
          <a:p>
            <a:pPr>
              <a:lnSpc>
                <a:spcPct val="162000"/>
              </a:lnSpc>
              <a:buNone/>
              <a:tabLst>
                <a:tab algn="l" pos="0"/>
              </a:tabLst>
            </a:pPr>
            <a:r>
              <a:rPr b="1" lang="en-US" sz="1300" spc="-1" strike="noStrike">
                <a:solidFill>
                  <a:srgbClr val="2b3541"/>
                </a:solidFill>
                <a:latin typeface="Times New Roman"/>
                <a:ea typeface="Times New Roman"/>
              </a:rPr>
              <a:t>Ethical &amp; Assistive AI Design:</a:t>
            </a:r>
            <a:endParaRPr b="0" lang="en-IN" sz="1300" spc="-1" strike="noStrike">
              <a:latin typeface="Arial"/>
            </a:endParaRPr>
          </a:p>
          <a:p>
            <a:pPr>
              <a:lnSpc>
                <a:spcPct val="162000"/>
              </a:lnSpc>
              <a:buNone/>
              <a:tabLst>
                <a:tab algn="l" pos="0"/>
              </a:tabLst>
            </a:pPr>
            <a:r>
              <a:rPr b="0" lang="en-US" sz="1300" spc="-1" strike="noStrike">
                <a:solidFill>
                  <a:srgbClr val="2b3541"/>
                </a:solidFill>
                <a:latin typeface="Times New Roman"/>
                <a:ea typeface="Times New Roman"/>
              </a:rPr>
              <a:t>Provides non-diagnostic, supportive lifestyle suggestions, maintaining safety, transparency, and responsible AI principles.</a:t>
            </a:r>
            <a:endParaRPr b="0" lang="en-IN" sz="1300" spc="-1" strike="noStrike">
              <a:latin typeface="Arial"/>
            </a:endParaRPr>
          </a:p>
          <a:p>
            <a:pPr>
              <a:lnSpc>
                <a:spcPct val="162000"/>
              </a:lnSpc>
              <a:buNone/>
              <a:tabLst>
                <a:tab algn="l" pos="0"/>
              </a:tabLst>
            </a:pPr>
            <a:r>
              <a:rPr b="1" lang="en-US" sz="1300" spc="-1" strike="noStrike">
                <a:solidFill>
                  <a:srgbClr val="2b3541"/>
                </a:solidFill>
                <a:latin typeface="Times New Roman"/>
                <a:ea typeface="Times New Roman"/>
              </a:rPr>
              <a:t>Highly Scalable &amp; Integrable:</a:t>
            </a:r>
            <a:endParaRPr b="0" lang="en-IN" sz="1300" spc="-1" strike="noStrike">
              <a:latin typeface="Arial"/>
            </a:endParaRPr>
          </a:p>
          <a:p>
            <a:pPr>
              <a:lnSpc>
                <a:spcPct val="162000"/>
              </a:lnSpc>
              <a:buNone/>
              <a:tabLst>
                <a:tab algn="l" pos="0"/>
              </a:tabLst>
            </a:pPr>
            <a:r>
              <a:rPr b="0" lang="en-US" sz="1300" spc="-1" strike="noStrike">
                <a:solidFill>
                  <a:srgbClr val="2b3541"/>
                </a:solidFill>
                <a:latin typeface="Times New Roman"/>
                <a:ea typeface="Times New Roman"/>
              </a:rPr>
              <a:t>Can be easily integrated with wearables, fitness apps, IoT devices, and telehealth platforms.</a:t>
            </a:r>
            <a:endParaRPr b="0" lang="en-IN" sz="1300" spc="-1" strike="noStrike">
              <a:latin typeface="Arial"/>
            </a:endParaRPr>
          </a:p>
        </p:txBody>
      </p:sp>
      <p:pic>
        <p:nvPicPr>
          <p:cNvPr id="113" name="Picture 2" descr=""/>
          <p:cNvPicPr/>
          <p:nvPr/>
        </p:nvPicPr>
        <p:blipFill>
          <a:blip r:embed="rId1"/>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Google Shape;179;p7"/>
          <p:cNvSpPr/>
          <p:nvPr/>
        </p:nvSpPr>
        <p:spPr>
          <a:xfrm>
            <a:off x="1003680" y="364320"/>
            <a:ext cx="8207640" cy="456840"/>
          </a:xfrm>
          <a:prstGeom prst="rect">
            <a:avLst/>
          </a:prstGeom>
          <a:noFill/>
          <a:ln w="0">
            <a:noFill/>
          </a:ln>
        </p:spPr>
        <p:style>
          <a:lnRef idx="0"/>
          <a:fillRef idx="0"/>
          <a:effectRef idx="0"/>
          <a:fontRef idx="minor"/>
        </p:style>
        <p:txBody>
          <a:bodyPr anchor="t">
            <a:spAutoFit/>
          </a:bodyPr>
          <a:p>
            <a:pPr algn="ctr">
              <a:lnSpc>
                <a:spcPct val="100000"/>
              </a:lnSpc>
              <a:buNone/>
            </a:pPr>
            <a:r>
              <a:rPr b="1" lang="en-US" sz="2400" spc="-1" strike="noStrike">
                <a:solidFill>
                  <a:srgbClr val="000000"/>
                </a:solidFill>
                <a:latin typeface="Arial"/>
                <a:ea typeface="Calibri"/>
              </a:rPr>
              <a:t>Technical flow diagram - Architecture blueprint</a:t>
            </a:r>
            <a:endParaRPr b="0" lang="en-IN" sz="2400" spc="-1" strike="noStrike">
              <a:latin typeface="Arial"/>
            </a:endParaRPr>
          </a:p>
        </p:txBody>
      </p:sp>
      <p:pic>
        <p:nvPicPr>
          <p:cNvPr id="115" name="Picture 2" descr=""/>
          <p:cNvPicPr/>
          <p:nvPr/>
        </p:nvPicPr>
        <p:blipFill>
          <a:blip r:embed="rId1"/>
          <a:stretch/>
        </p:blipFill>
        <p:spPr>
          <a:xfrm>
            <a:off x="335880" y="6315480"/>
            <a:ext cx="11520000" cy="309600"/>
          </a:xfrm>
          <a:prstGeom prst="rect">
            <a:avLst/>
          </a:prstGeom>
          <a:ln w="0">
            <a:noFill/>
          </a:ln>
        </p:spPr>
      </p:pic>
      <p:pic>
        <p:nvPicPr>
          <p:cNvPr id="116" name="" descr=""/>
          <p:cNvPicPr/>
          <p:nvPr/>
        </p:nvPicPr>
        <p:blipFill>
          <a:blip r:embed="rId2"/>
          <a:stretch/>
        </p:blipFill>
        <p:spPr>
          <a:xfrm>
            <a:off x="360000" y="1080000"/>
            <a:ext cx="11520000" cy="46677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Google Shape;135;p5"/>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400" spc="-1" strike="noStrike">
                <a:solidFill>
                  <a:srgbClr val="051d3a"/>
                </a:solidFill>
                <a:latin typeface="Arial"/>
                <a:ea typeface="Times New Roman"/>
              </a:rPr>
              <a:t>Langflow component Used </a:t>
            </a:r>
            <a:endParaRPr b="0" lang="en-IN" sz="2400" spc="-1" strike="noStrike">
              <a:latin typeface="Arial"/>
            </a:endParaRPr>
          </a:p>
        </p:txBody>
      </p:sp>
      <p:sp>
        <p:nvSpPr>
          <p:cNvPr id="118" name="Google Shape;148;p5"/>
          <p:cNvSpPr/>
          <p:nvPr/>
        </p:nvSpPr>
        <p:spPr>
          <a:xfrm>
            <a:off x="2264400" y="6784560"/>
            <a:ext cx="2140560" cy="223920"/>
          </a:xfrm>
          <a:prstGeom prst="rect">
            <a:avLst/>
          </a:prstGeom>
          <a:noFill/>
          <a:ln w="0">
            <a:noFill/>
          </a:ln>
        </p:spPr>
        <p:style>
          <a:lnRef idx="0"/>
          <a:fillRef idx="0"/>
          <a:effectRef idx="0"/>
          <a:fontRef idx="minor"/>
        </p:style>
      </p:sp>
      <p:sp>
        <p:nvSpPr>
          <p:cNvPr id="119" name="Google Shape;149;p5"/>
          <p:cNvSpPr/>
          <p:nvPr/>
        </p:nvSpPr>
        <p:spPr>
          <a:xfrm>
            <a:off x="1782720" y="7100280"/>
            <a:ext cx="3103920" cy="731520"/>
          </a:xfrm>
          <a:prstGeom prst="rect">
            <a:avLst/>
          </a:prstGeom>
          <a:noFill/>
          <a:ln w="0">
            <a:noFill/>
          </a:ln>
        </p:spPr>
        <p:style>
          <a:lnRef idx="0"/>
          <a:fillRef idx="0"/>
          <a:effectRef idx="0"/>
          <a:fontRef idx="minor"/>
        </p:style>
      </p:sp>
      <p:sp>
        <p:nvSpPr>
          <p:cNvPr id="120" name="Google Shape;150;p5"/>
          <p:cNvSpPr/>
          <p:nvPr/>
        </p:nvSpPr>
        <p:spPr>
          <a:xfrm>
            <a:off x="5732280" y="6784560"/>
            <a:ext cx="1793520" cy="223920"/>
          </a:xfrm>
          <a:prstGeom prst="rect">
            <a:avLst/>
          </a:prstGeom>
          <a:noFill/>
          <a:ln w="0">
            <a:noFill/>
          </a:ln>
        </p:spPr>
        <p:style>
          <a:lnRef idx="0"/>
          <a:fillRef idx="0"/>
          <a:effectRef idx="0"/>
          <a:fontRef idx="minor"/>
        </p:style>
      </p:sp>
      <p:sp>
        <p:nvSpPr>
          <p:cNvPr id="121" name="Google Shape;151;p5"/>
          <p:cNvSpPr/>
          <p:nvPr/>
        </p:nvSpPr>
        <p:spPr>
          <a:xfrm>
            <a:off x="5077440" y="7100280"/>
            <a:ext cx="3103920" cy="731520"/>
          </a:xfrm>
          <a:prstGeom prst="rect">
            <a:avLst/>
          </a:prstGeom>
          <a:noFill/>
          <a:ln w="0">
            <a:noFill/>
          </a:ln>
        </p:spPr>
        <p:style>
          <a:lnRef idx="0"/>
          <a:fillRef idx="0"/>
          <a:effectRef idx="0"/>
          <a:fontRef idx="minor"/>
        </p:style>
      </p:sp>
      <p:sp>
        <p:nvSpPr>
          <p:cNvPr id="122" name="Google Shape;152;p5"/>
          <p:cNvSpPr/>
          <p:nvPr/>
        </p:nvSpPr>
        <p:spPr>
          <a:xfrm>
            <a:off x="9027000" y="6784560"/>
            <a:ext cx="1793520" cy="223920"/>
          </a:xfrm>
          <a:prstGeom prst="rect">
            <a:avLst/>
          </a:prstGeom>
          <a:noFill/>
          <a:ln w="0">
            <a:noFill/>
          </a:ln>
        </p:spPr>
        <p:style>
          <a:lnRef idx="0"/>
          <a:fillRef idx="0"/>
          <a:effectRef idx="0"/>
          <a:fontRef idx="minor"/>
        </p:style>
      </p:sp>
      <p:sp>
        <p:nvSpPr>
          <p:cNvPr id="123" name="Google Shape;153;p5"/>
          <p:cNvSpPr/>
          <p:nvPr/>
        </p:nvSpPr>
        <p:spPr>
          <a:xfrm>
            <a:off x="8372160" y="7100280"/>
            <a:ext cx="3103920" cy="731520"/>
          </a:xfrm>
          <a:prstGeom prst="rect">
            <a:avLst/>
          </a:prstGeom>
          <a:noFill/>
          <a:ln w="0">
            <a:noFill/>
          </a:ln>
        </p:spPr>
        <p:style>
          <a:lnRef idx="0"/>
          <a:fillRef idx="0"/>
          <a:effectRef idx="0"/>
          <a:fontRef idx="minor"/>
        </p:style>
      </p:sp>
      <p:sp>
        <p:nvSpPr>
          <p:cNvPr id="124" name="TextBox 1"/>
          <p:cNvSpPr/>
          <p:nvPr/>
        </p:nvSpPr>
        <p:spPr>
          <a:xfrm>
            <a:off x="540000" y="864000"/>
            <a:ext cx="8823600" cy="4823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000000"/>
                </a:solidFill>
                <a:latin typeface="Arial"/>
                <a:ea typeface="Arial"/>
              </a:rPr>
              <a:t>Chat Input</a:t>
            </a:r>
            <a:endParaRPr b="0" lang="en-IN" sz="1400" spc="-1" strike="noStrike">
              <a:latin typeface="Arial"/>
            </a:endParaRPr>
          </a:p>
          <a:p>
            <a:pPr>
              <a:lnSpc>
                <a:spcPct val="100000"/>
              </a:lnSpc>
              <a:buNone/>
            </a:pPr>
            <a:endParaRPr b="0" lang="en-IN" sz="1400" spc="-1" strike="noStrike">
              <a:latin typeface="Arial"/>
            </a:endParaRPr>
          </a:p>
          <a:p>
            <a:pPr marL="216000" indent="-216000">
              <a:lnSpc>
                <a:spcPct val="100000"/>
              </a:lnSpc>
              <a:buClr>
                <a:srgbClr val="000000"/>
              </a:buClr>
              <a:buFont typeface="Arial"/>
              <a:buChar char="●"/>
            </a:pPr>
            <a:r>
              <a:rPr b="0" lang="en-US" sz="1200" spc="-1" strike="noStrike">
                <a:solidFill>
                  <a:srgbClr val="000000"/>
                </a:solidFill>
                <a:latin typeface="Arial"/>
                <a:ea typeface="Arial"/>
              </a:rPr>
              <a:t>Collects user lifestyle data</a:t>
            </a:r>
            <a:endParaRPr b="0" lang="en-IN" sz="1200" spc="-1" strike="noStrike">
              <a:latin typeface="Arial"/>
            </a:endParaRPr>
          </a:p>
          <a:p>
            <a:pPr marL="216000" indent="-216000">
              <a:lnSpc>
                <a:spcPct val="100000"/>
              </a:lnSpc>
              <a:buClr>
                <a:srgbClr val="000000"/>
              </a:buClr>
              <a:buFont typeface="Arial"/>
              <a:buChar char="●"/>
            </a:pPr>
            <a:r>
              <a:rPr b="0" lang="en-US" sz="1200" spc="-1" strike="noStrike">
                <a:solidFill>
                  <a:srgbClr val="000000"/>
                </a:solidFill>
                <a:latin typeface="Arial"/>
                <a:ea typeface="Arial"/>
              </a:rPr>
              <a:t>Acts as the system’s starting point</a:t>
            </a:r>
            <a:endParaRPr b="0" lang="en-IN" sz="1200" spc="-1" strike="noStrike">
              <a:latin typeface="Arial"/>
            </a:endParaRPr>
          </a:p>
          <a:p>
            <a:pPr>
              <a:lnSpc>
                <a:spcPct val="100000"/>
              </a:lnSpc>
              <a:buNone/>
            </a:pPr>
            <a:endParaRPr b="0" lang="en-IN" sz="1400" spc="-1" strike="noStrike">
              <a:latin typeface="Arial"/>
            </a:endParaRPr>
          </a:p>
          <a:p>
            <a:pPr>
              <a:lnSpc>
                <a:spcPct val="100000"/>
              </a:lnSpc>
              <a:buNone/>
            </a:pPr>
            <a:r>
              <a:rPr b="1" lang="en-US" sz="1400" spc="-1" strike="noStrike">
                <a:solidFill>
                  <a:srgbClr val="000000"/>
                </a:solidFill>
                <a:latin typeface="Arial"/>
                <a:ea typeface="Arial"/>
              </a:rPr>
              <a:t>IBM watsonx AI Agent</a:t>
            </a:r>
            <a:endParaRPr b="0" lang="en-IN" sz="1400" spc="-1" strike="noStrike">
              <a:latin typeface="Arial"/>
            </a:endParaRPr>
          </a:p>
          <a:p>
            <a:pPr>
              <a:lnSpc>
                <a:spcPct val="100000"/>
              </a:lnSpc>
              <a:buNone/>
            </a:pPr>
            <a:endParaRPr b="0" lang="en-IN" sz="1400" spc="-1" strike="noStrike">
              <a:latin typeface="Arial"/>
            </a:endParaRPr>
          </a:p>
          <a:p>
            <a:pPr marL="216000" indent="-216000">
              <a:lnSpc>
                <a:spcPct val="100000"/>
              </a:lnSpc>
              <a:buClr>
                <a:srgbClr val="000000"/>
              </a:buClr>
              <a:buFont typeface="Arial"/>
              <a:buChar char="●"/>
            </a:pPr>
            <a:r>
              <a:rPr b="0" lang="en-US" sz="1200" spc="-1" strike="noStrike">
                <a:solidFill>
                  <a:srgbClr val="000000"/>
                </a:solidFill>
                <a:latin typeface="Arial"/>
                <a:ea typeface="Arial"/>
              </a:rPr>
              <a:t>Core intelligence powered by IBM Granite</a:t>
            </a:r>
            <a:endParaRPr b="0" lang="en-IN" sz="1200" spc="-1" strike="noStrike">
              <a:latin typeface="Arial"/>
            </a:endParaRPr>
          </a:p>
          <a:p>
            <a:pPr marL="216000" indent="-216000">
              <a:lnSpc>
                <a:spcPct val="100000"/>
              </a:lnSpc>
              <a:buClr>
                <a:srgbClr val="000000"/>
              </a:buClr>
              <a:buFont typeface="Arial"/>
              <a:buChar char="●"/>
            </a:pPr>
            <a:r>
              <a:rPr b="0" lang="en-US" sz="1200" spc="-1" strike="noStrike">
                <a:solidFill>
                  <a:srgbClr val="000000"/>
                </a:solidFill>
                <a:latin typeface="Arial"/>
                <a:ea typeface="Arial"/>
              </a:rPr>
              <a:t>Analyzes data and detects preventive risks</a:t>
            </a:r>
            <a:endParaRPr b="0" lang="en-IN" sz="1200" spc="-1" strike="noStrike">
              <a:latin typeface="Arial"/>
            </a:endParaRPr>
          </a:p>
          <a:p>
            <a:pPr>
              <a:lnSpc>
                <a:spcPct val="100000"/>
              </a:lnSpc>
              <a:buNone/>
            </a:pPr>
            <a:endParaRPr b="0" lang="en-IN" sz="1400" spc="-1" strike="noStrike">
              <a:latin typeface="Arial"/>
            </a:endParaRPr>
          </a:p>
          <a:p>
            <a:pPr>
              <a:lnSpc>
                <a:spcPct val="100000"/>
              </a:lnSpc>
              <a:buNone/>
            </a:pPr>
            <a:r>
              <a:rPr b="1" lang="en-US" sz="1400" spc="-1" strike="noStrike">
                <a:solidFill>
                  <a:srgbClr val="000000"/>
                </a:solidFill>
                <a:latin typeface="Arial"/>
                <a:ea typeface="Arial"/>
              </a:rPr>
              <a:t>File Component</a:t>
            </a:r>
            <a:endParaRPr b="0" lang="en-IN" sz="1400" spc="-1" strike="noStrike">
              <a:latin typeface="Arial"/>
            </a:endParaRPr>
          </a:p>
          <a:p>
            <a:pPr>
              <a:lnSpc>
                <a:spcPct val="100000"/>
              </a:lnSpc>
              <a:buNone/>
            </a:pPr>
            <a:endParaRPr b="0" lang="en-IN" sz="1400" spc="-1" strike="noStrike">
              <a:latin typeface="Arial"/>
            </a:endParaRPr>
          </a:p>
          <a:p>
            <a:pPr marL="216000" indent="-216000">
              <a:lnSpc>
                <a:spcPct val="100000"/>
              </a:lnSpc>
              <a:buClr>
                <a:srgbClr val="000000"/>
              </a:buClr>
              <a:buFont typeface="Arial"/>
              <a:buChar char="●"/>
            </a:pPr>
            <a:r>
              <a:rPr b="0" lang="en-US" sz="1100" spc="-1" strike="noStrike">
                <a:solidFill>
                  <a:srgbClr val="000000"/>
                </a:solidFill>
                <a:latin typeface="Arial"/>
                <a:ea typeface="Arial"/>
              </a:rPr>
              <a:t>Stores datasets and health guidelines</a:t>
            </a:r>
            <a:endParaRPr b="0" lang="en-IN" sz="1100" spc="-1" strike="noStrike">
              <a:latin typeface="Arial"/>
            </a:endParaRPr>
          </a:p>
          <a:p>
            <a:pPr marL="216000" indent="-216000">
              <a:lnSpc>
                <a:spcPct val="100000"/>
              </a:lnSpc>
              <a:buClr>
                <a:srgbClr val="000000"/>
              </a:buClr>
              <a:buFont typeface="Arial"/>
              <a:buChar char="●"/>
            </a:pPr>
            <a:r>
              <a:rPr b="0" lang="en-US" sz="1100" spc="-1" strike="noStrike">
                <a:solidFill>
                  <a:srgbClr val="000000"/>
                </a:solidFill>
                <a:latin typeface="Arial"/>
                <a:ea typeface="Arial"/>
              </a:rPr>
              <a:t>Supplies reference data for analysis (RAG)</a:t>
            </a:r>
            <a:endParaRPr b="0" lang="en-IN" sz="1100" spc="-1" strike="noStrike">
              <a:latin typeface="Arial"/>
            </a:endParaRPr>
          </a:p>
          <a:p>
            <a:pPr marL="216000" indent="-216000">
              <a:lnSpc>
                <a:spcPct val="100000"/>
              </a:lnSpc>
              <a:buClr>
                <a:srgbClr val="000000"/>
              </a:buClr>
              <a:buFont typeface="Arial"/>
              <a:buChar char="●"/>
            </a:pPr>
            <a:endParaRPr b="0" lang="en-IN" sz="1100" spc="-1" strike="noStrike">
              <a:latin typeface="Arial"/>
            </a:endParaRPr>
          </a:p>
          <a:p>
            <a:pPr>
              <a:lnSpc>
                <a:spcPct val="100000"/>
              </a:lnSpc>
              <a:buNone/>
            </a:pPr>
            <a:r>
              <a:rPr b="1" lang="en-US" sz="1400" spc="-1" strike="noStrike">
                <a:solidFill>
                  <a:srgbClr val="000000"/>
                </a:solidFill>
                <a:latin typeface="Arial"/>
                <a:ea typeface="Arial"/>
              </a:rPr>
              <a:t>Chat Output</a:t>
            </a:r>
            <a:endParaRPr b="0" lang="en-IN" sz="1400" spc="-1" strike="noStrike">
              <a:latin typeface="Arial"/>
            </a:endParaRPr>
          </a:p>
          <a:p>
            <a:pPr>
              <a:lnSpc>
                <a:spcPct val="100000"/>
              </a:lnSpc>
              <a:buNone/>
            </a:pPr>
            <a:endParaRPr b="0" lang="en-IN" sz="1400" spc="-1" strike="noStrike">
              <a:latin typeface="Arial"/>
            </a:endParaRPr>
          </a:p>
          <a:p>
            <a:pPr marL="216000" indent="-216000">
              <a:lnSpc>
                <a:spcPct val="100000"/>
              </a:lnSpc>
              <a:buClr>
                <a:srgbClr val="000000"/>
              </a:buClr>
              <a:buFont typeface="Arial"/>
              <a:buChar char="●"/>
            </a:pPr>
            <a:r>
              <a:rPr b="0" lang="en-US" sz="1200" spc="-1" strike="noStrike">
                <a:solidFill>
                  <a:srgbClr val="000000"/>
                </a:solidFill>
                <a:latin typeface="Arial"/>
                <a:ea typeface="Arial"/>
              </a:rPr>
              <a:t>Displays lifestyle summary and insights</a:t>
            </a:r>
            <a:endParaRPr b="0" lang="en-IN" sz="1200" spc="-1" strike="noStrike">
              <a:latin typeface="Arial"/>
            </a:endParaRPr>
          </a:p>
          <a:p>
            <a:pPr marL="216000" indent="-216000">
              <a:lnSpc>
                <a:spcPct val="100000"/>
              </a:lnSpc>
              <a:buClr>
                <a:srgbClr val="000000"/>
              </a:buClr>
              <a:buFont typeface="Arial"/>
              <a:buChar char="●"/>
            </a:pPr>
            <a:r>
              <a:rPr b="0" lang="en-US" sz="1200" spc="-1" strike="noStrike">
                <a:solidFill>
                  <a:srgbClr val="000000"/>
                </a:solidFill>
                <a:latin typeface="Arial"/>
                <a:ea typeface="Arial"/>
              </a:rPr>
              <a:t>Shows assistive, non-diagnostic suggestions</a:t>
            </a:r>
            <a:endParaRPr b="0" lang="en-IN" sz="1200" spc="-1" strike="noStrike">
              <a:latin typeface="Arial"/>
            </a:endParaRPr>
          </a:p>
          <a:p>
            <a:pPr>
              <a:lnSpc>
                <a:spcPct val="100000"/>
              </a:lnSpc>
              <a:buNone/>
            </a:pPr>
            <a:endParaRPr b="0" lang="en-IN" sz="1400" spc="-1" strike="noStrike">
              <a:latin typeface="Arial"/>
            </a:endParaRPr>
          </a:p>
          <a:p>
            <a:pPr>
              <a:lnSpc>
                <a:spcPct val="100000"/>
              </a:lnSpc>
              <a:buNone/>
            </a:pPr>
            <a:r>
              <a:rPr b="1" lang="en-US" sz="1400" spc="-1" strike="noStrike">
                <a:solidFill>
                  <a:srgbClr val="000000"/>
                </a:solidFill>
                <a:latin typeface="Arial"/>
                <a:ea typeface="Arial"/>
              </a:rPr>
              <a:t>Prompt Template</a:t>
            </a:r>
            <a:endParaRPr b="0" lang="en-IN" sz="1400" spc="-1" strike="noStrike">
              <a:latin typeface="Arial"/>
            </a:endParaRPr>
          </a:p>
          <a:p>
            <a:pPr>
              <a:lnSpc>
                <a:spcPct val="100000"/>
              </a:lnSpc>
              <a:buNone/>
            </a:pPr>
            <a:endParaRPr b="0" lang="en-IN" sz="1400" spc="-1" strike="noStrike">
              <a:latin typeface="Arial"/>
            </a:endParaRPr>
          </a:p>
          <a:p>
            <a:pPr marL="216000" indent="-216000">
              <a:lnSpc>
                <a:spcPct val="100000"/>
              </a:lnSpc>
              <a:buClr>
                <a:srgbClr val="000000"/>
              </a:buClr>
              <a:buFont typeface="Arial"/>
              <a:buChar char="●"/>
            </a:pPr>
            <a:r>
              <a:rPr b="0" lang="en-US" sz="1200" spc="-1" strike="noStrike">
                <a:solidFill>
                  <a:srgbClr val="000000"/>
                </a:solidFill>
                <a:latin typeface="Arial"/>
                <a:ea typeface="Arial"/>
              </a:rPr>
              <a:t>Controls AI behavior and response format</a:t>
            </a:r>
            <a:endParaRPr b="0" lang="en-IN" sz="1200" spc="-1" strike="noStrike">
              <a:latin typeface="Arial"/>
            </a:endParaRPr>
          </a:p>
          <a:p>
            <a:pPr marL="216000" indent="-216000">
              <a:lnSpc>
                <a:spcPct val="100000"/>
              </a:lnSpc>
              <a:buClr>
                <a:srgbClr val="000000"/>
              </a:buClr>
              <a:buFont typeface="Arial"/>
              <a:buChar char="●"/>
            </a:pPr>
            <a:r>
              <a:rPr b="0" lang="en-US" sz="1200" spc="-1" strike="noStrike">
                <a:solidFill>
                  <a:srgbClr val="000000"/>
                </a:solidFill>
                <a:latin typeface="Arial"/>
                <a:ea typeface="Arial"/>
              </a:rPr>
              <a:t>Ensures ethical and consistent outputs</a:t>
            </a:r>
            <a:endParaRPr b="0" lang="en-IN" sz="1200" spc="-1" strike="noStrike">
              <a:latin typeface="Arial"/>
            </a:endParaRPr>
          </a:p>
        </p:txBody>
      </p:sp>
      <p:pic>
        <p:nvPicPr>
          <p:cNvPr id="125" name="Picture 3" descr=""/>
          <p:cNvPicPr/>
          <p:nvPr/>
        </p:nvPicPr>
        <p:blipFill>
          <a:blip r:embed="rId1"/>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TextBox 1"/>
          <p:cNvSpPr/>
          <p:nvPr/>
        </p:nvSpPr>
        <p:spPr>
          <a:xfrm>
            <a:off x="838800" y="200880"/>
            <a:ext cx="4683600" cy="456840"/>
          </a:xfrm>
          <a:prstGeom prst="rect">
            <a:avLst/>
          </a:prstGeom>
          <a:noFill/>
          <a:ln w="0">
            <a:noFill/>
          </a:ln>
        </p:spPr>
        <p:style>
          <a:lnRef idx="0"/>
          <a:fillRef idx="0"/>
          <a:effectRef idx="0"/>
          <a:fontRef idx="minor"/>
        </p:style>
        <p:txBody>
          <a:bodyPr numCol="1" spcCol="0" horzOverflow="overflow" vertOverflow="overflow" anchor="t">
            <a:spAutoFit/>
          </a:bodyPr>
          <a:p>
            <a:pPr>
              <a:lnSpc>
                <a:spcPct val="100000"/>
              </a:lnSpc>
              <a:buNone/>
            </a:pPr>
            <a:r>
              <a:rPr b="1" lang="en-US" sz="2400" spc="-1" strike="noStrike">
                <a:solidFill>
                  <a:srgbClr val="000000"/>
                </a:solidFill>
                <a:latin typeface="Arial"/>
                <a:ea typeface="Arial"/>
              </a:rPr>
              <a:t>Input Screenshot 1 </a:t>
            </a:r>
            <a:endParaRPr b="0" lang="en-IN" sz="2400" spc="-1" strike="noStrike">
              <a:latin typeface="Arial"/>
            </a:endParaRPr>
          </a:p>
        </p:txBody>
      </p:sp>
      <p:pic>
        <p:nvPicPr>
          <p:cNvPr id="127" name="Picture 4" descr=""/>
          <p:cNvPicPr/>
          <p:nvPr/>
        </p:nvPicPr>
        <p:blipFill>
          <a:blip r:embed="rId1"/>
          <a:stretch/>
        </p:blipFill>
        <p:spPr>
          <a:xfrm>
            <a:off x="335880" y="6315480"/>
            <a:ext cx="11520000" cy="309600"/>
          </a:xfrm>
          <a:prstGeom prst="rect">
            <a:avLst/>
          </a:prstGeom>
          <a:ln w="0">
            <a:noFill/>
          </a:ln>
        </p:spPr>
      </p:pic>
      <p:pic>
        <p:nvPicPr>
          <p:cNvPr id="128" name="" descr=""/>
          <p:cNvPicPr/>
          <p:nvPr/>
        </p:nvPicPr>
        <p:blipFill>
          <a:blip r:embed="rId2"/>
          <a:stretch/>
        </p:blipFill>
        <p:spPr>
          <a:xfrm>
            <a:off x="1330200" y="662760"/>
            <a:ext cx="9289800" cy="56527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TextBox 1"/>
          <p:cNvSpPr/>
          <p:nvPr/>
        </p:nvSpPr>
        <p:spPr>
          <a:xfrm>
            <a:off x="1065240" y="138960"/>
            <a:ext cx="5260320" cy="456840"/>
          </a:xfrm>
          <a:prstGeom prst="rect">
            <a:avLst/>
          </a:prstGeom>
          <a:noFill/>
          <a:ln w="0">
            <a:noFill/>
          </a:ln>
        </p:spPr>
        <p:style>
          <a:lnRef idx="0"/>
          <a:fillRef idx="0"/>
          <a:effectRef idx="0"/>
          <a:fontRef idx="minor"/>
        </p:style>
        <p:txBody>
          <a:bodyPr numCol="1" spcCol="0" horzOverflow="overflow" vertOverflow="overflow" anchor="t">
            <a:spAutoFit/>
          </a:bodyPr>
          <a:p>
            <a:pPr>
              <a:lnSpc>
                <a:spcPct val="100000"/>
              </a:lnSpc>
              <a:buNone/>
            </a:pPr>
            <a:r>
              <a:rPr b="1" lang="en-US" sz="2400" spc="-1" strike="noStrike">
                <a:solidFill>
                  <a:srgbClr val="000000"/>
                </a:solidFill>
                <a:latin typeface="Arial"/>
                <a:ea typeface="Arial"/>
              </a:rPr>
              <a:t>Output Screenshot 1</a:t>
            </a:r>
            <a:endParaRPr b="0" lang="en-IN" sz="2400" spc="-1" strike="noStrike">
              <a:latin typeface="Arial"/>
            </a:endParaRPr>
          </a:p>
        </p:txBody>
      </p:sp>
      <p:pic>
        <p:nvPicPr>
          <p:cNvPr id="130" name="Picture 4" descr=""/>
          <p:cNvPicPr/>
          <p:nvPr/>
        </p:nvPicPr>
        <p:blipFill>
          <a:blip r:embed="rId1"/>
          <a:stretch/>
        </p:blipFill>
        <p:spPr>
          <a:xfrm>
            <a:off x="335880" y="6315480"/>
            <a:ext cx="11520000" cy="309600"/>
          </a:xfrm>
          <a:prstGeom prst="rect">
            <a:avLst/>
          </a:prstGeom>
          <a:ln w="0">
            <a:noFill/>
          </a:ln>
        </p:spPr>
      </p:pic>
      <p:pic>
        <p:nvPicPr>
          <p:cNvPr id="131" name="" descr=""/>
          <p:cNvPicPr/>
          <p:nvPr/>
        </p:nvPicPr>
        <p:blipFill>
          <a:blip r:embed="rId2"/>
          <a:stretch/>
        </p:blipFill>
        <p:spPr>
          <a:xfrm>
            <a:off x="5038560" y="595800"/>
            <a:ext cx="5581440" cy="55965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Google Shape;278;p18"/>
          <p:cNvSpPr/>
          <p:nvPr/>
        </p:nvSpPr>
        <p:spPr>
          <a:xfrm>
            <a:off x="1218600" y="420840"/>
            <a:ext cx="6444000" cy="703800"/>
          </a:xfrm>
          <a:prstGeom prst="rect">
            <a:avLst/>
          </a:prstGeom>
          <a:noFill/>
          <a:ln w="0">
            <a:noFill/>
          </a:ln>
        </p:spPr>
        <p:style>
          <a:lnRef idx="0"/>
          <a:fillRef idx="0"/>
          <a:effectRef idx="0"/>
          <a:fontRef idx="minor"/>
        </p:style>
        <p:txBody>
          <a:bodyPr lIns="0" rIns="0" tIns="0" bIns="0" anchor="t">
            <a:noAutofit/>
          </a:bodyPr>
          <a:p>
            <a:pPr>
              <a:lnSpc>
                <a:spcPct val="157000"/>
              </a:lnSpc>
              <a:buNone/>
              <a:tabLst>
                <a:tab algn="l" pos="0"/>
              </a:tabLst>
            </a:pPr>
            <a:r>
              <a:rPr b="1" lang="en-US" sz="3500" spc="-1" strike="noStrike">
                <a:solidFill>
                  <a:srgbClr val="051d3a"/>
                </a:solidFill>
                <a:latin typeface="Times New Roman"/>
                <a:ea typeface="Times New Roman"/>
              </a:rPr>
              <a:t>Future Scope </a:t>
            </a:r>
            <a:endParaRPr b="0" lang="en-IN" sz="3500" spc="-1" strike="noStrike">
              <a:latin typeface="Arial"/>
            </a:endParaRPr>
          </a:p>
        </p:txBody>
      </p:sp>
      <p:pic>
        <p:nvPicPr>
          <p:cNvPr id="133" name="Picture 2" descr=""/>
          <p:cNvPicPr/>
          <p:nvPr/>
        </p:nvPicPr>
        <p:blipFill>
          <a:blip r:embed="rId1"/>
          <a:stretch/>
        </p:blipFill>
        <p:spPr>
          <a:xfrm>
            <a:off x="335880" y="6315480"/>
            <a:ext cx="11520000" cy="309600"/>
          </a:xfrm>
          <a:prstGeom prst="rect">
            <a:avLst/>
          </a:prstGeom>
          <a:ln w="0">
            <a:noFill/>
          </a:ln>
        </p:spPr>
      </p:pic>
      <p:sp>
        <p:nvSpPr>
          <p:cNvPr id="134" name=""/>
          <p:cNvSpPr txBox="1"/>
          <p:nvPr/>
        </p:nvSpPr>
        <p:spPr>
          <a:xfrm>
            <a:off x="1080000" y="1570320"/>
            <a:ext cx="7084440" cy="2333880"/>
          </a:xfrm>
          <a:prstGeom prst="rect">
            <a:avLst/>
          </a:prstGeom>
          <a:noFill/>
          <a:ln w="0">
            <a:noFill/>
          </a:ln>
        </p:spPr>
        <p:txBody>
          <a:bodyPr lIns="90000" rIns="90000" tIns="45000" bIns="45000" anchor="t">
            <a:noAutofit/>
          </a:bodyPr>
          <a:p>
            <a:pPr marL="216000" indent="-216000">
              <a:spcBef>
                <a:spcPts val="1191"/>
              </a:spcBef>
              <a:spcAft>
                <a:spcPts val="992"/>
              </a:spcAft>
              <a:buClr>
                <a:srgbClr val="000000"/>
              </a:buClr>
              <a:buSzPct val="45000"/>
              <a:buFont typeface="Wingdings" charset="2"/>
              <a:buChar char=""/>
            </a:pPr>
            <a:r>
              <a:rPr b="1" lang="en-IN" sz="1500" spc="-1" strike="noStrike">
                <a:latin typeface="Arial"/>
              </a:rPr>
              <a:t>Direct Wearable </a:t>
            </a:r>
            <a:r>
              <a:rPr b="1" lang="en-IN" sz="1500" spc="-1" strike="noStrike">
                <a:latin typeface="Arial"/>
              </a:rPr>
              <a:t>Integration</a:t>
            </a:r>
            <a:r>
              <a:rPr b="0" lang="en-IN" sz="1500" spc="-1" strike="noStrike">
                <a:latin typeface="Arial"/>
              </a:rPr>
              <a:t>: </a:t>
            </a:r>
            <a:r>
              <a:rPr b="0" lang="en-IN" sz="1500" spc="-1" strike="noStrike">
                <a:latin typeface="Arial"/>
              </a:rPr>
              <a:t>Automatic data </a:t>
            </a:r>
            <a:r>
              <a:rPr b="0" lang="en-IN" sz="1500" spc="-1" strike="noStrike">
                <a:latin typeface="Arial"/>
              </a:rPr>
              <a:t>syncing from </a:t>
            </a:r>
            <a:r>
              <a:rPr b="0" lang="en-IN" sz="1500" spc="-1" strike="noStrike">
                <a:latin typeface="Arial"/>
              </a:rPr>
              <a:t>Apple Health, </a:t>
            </a:r>
            <a:r>
              <a:rPr b="0" lang="en-IN" sz="1500" spc="-1" strike="noStrike">
                <a:latin typeface="Arial"/>
              </a:rPr>
              <a:t>Google Fit, and </a:t>
            </a:r>
            <a:r>
              <a:rPr b="0" lang="en-IN" sz="1500" spc="-1" strike="noStrike">
                <a:latin typeface="Arial"/>
              </a:rPr>
              <a:t>Oura.</a:t>
            </a:r>
            <a:endParaRPr b="0" lang="en-IN" sz="1500" spc="-1" strike="noStrike">
              <a:latin typeface="Arial"/>
            </a:endParaRPr>
          </a:p>
          <a:p>
            <a:pPr marL="216000" indent="-216000">
              <a:spcBef>
                <a:spcPts val="1191"/>
              </a:spcBef>
              <a:spcAft>
                <a:spcPts val="992"/>
              </a:spcAft>
              <a:buClr>
                <a:srgbClr val="000000"/>
              </a:buClr>
              <a:buSzPct val="45000"/>
              <a:buFont typeface="Wingdings" charset="2"/>
              <a:buChar char=""/>
            </a:pPr>
            <a:r>
              <a:rPr b="1" lang="en-IN" sz="1500" spc="-1" strike="noStrike">
                <a:latin typeface="Arial"/>
              </a:rPr>
              <a:t>Expanded </a:t>
            </a:r>
            <a:r>
              <a:rPr b="1" lang="en-IN" sz="1500" spc="-1" strike="noStrike">
                <a:latin typeface="Arial"/>
              </a:rPr>
              <a:t>Knowledge </a:t>
            </a:r>
            <a:r>
              <a:rPr b="1" lang="en-IN" sz="1500" spc="-1" strike="noStrike">
                <a:latin typeface="Arial"/>
              </a:rPr>
              <a:t>Base: </a:t>
            </a:r>
            <a:r>
              <a:rPr b="0" lang="en-IN" sz="1500" spc="-1" strike="noStrike">
                <a:latin typeface="Arial"/>
              </a:rPr>
              <a:t>Scaling </a:t>
            </a:r>
            <a:r>
              <a:rPr b="0" lang="en-IN" sz="1500" spc="-1" strike="noStrike">
                <a:latin typeface="Arial"/>
              </a:rPr>
              <a:t>Astra DB to hold </a:t>
            </a:r>
            <a:r>
              <a:rPr b="0" lang="en-IN" sz="1500" spc="-1" strike="noStrike">
                <a:latin typeface="Arial"/>
              </a:rPr>
              <a:t>thousands of </a:t>
            </a:r>
            <a:r>
              <a:rPr b="0" lang="en-IN" sz="1500" spc="-1" strike="noStrike">
                <a:latin typeface="Arial"/>
              </a:rPr>
              <a:t>specialized </a:t>
            </a:r>
            <a:r>
              <a:rPr b="0" lang="en-IN" sz="1500" spc="-1" strike="noStrike">
                <a:latin typeface="Arial"/>
              </a:rPr>
              <a:t>guidelines for </a:t>
            </a:r>
            <a:r>
              <a:rPr b="0" lang="en-IN" sz="1500" spc="-1" strike="noStrike">
                <a:latin typeface="Arial"/>
              </a:rPr>
              <a:t>chronic disease </a:t>
            </a:r>
            <a:r>
              <a:rPr b="0" lang="en-IN" sz="1500" spc="-1" strike="noStrike">
                <a:latin typeface="Arial"/>
              </a:rPr>
              <a:t>management.</a:t>
            </a:r>
            <a:endParaRPr b="0" lang="en-IN" sz="1500" spc="-1" strike="noStrike">
              <a:latin typeface="Arial"/>
            </a:endParaRPr>
          </a:p>
          <a:p>
            <a:pPr marL="216000" indent="-216000">
              <a:spcBef>
                <a:spcPts val="1191"/>
              </a:spcBef>
              <a:spcAft>
                <a:spcPts val="992"/>
              </a:spcAft>
              <a:buClr>
                <a:srgbClr val="000000"/>
              </a:buClr>
              <a:buSzPct val="45000"/>
              <a:buFont typeface="Wingdings" charset="2"/>
              <a:buChar char=""/>
            </a:pPr>
            <a:r>
              <a:rPr b="1" lang="en-IN" sz="1500" spc="-1" strike="noStrike">
                <a:latin typeface="Arial"/>
              </a:rPr>
              <a:t>Physician Hand-</a:t>
            </a:r>
            <a:r>
              <a:rPr b="1" lang="en-IN" sz="1500" spc="-1" strike="noStrike">
                <a:latin typeface="Arial"/>
              </a:rPr>
              <a:t>off:</a:t>
            </a:r>
            <a:r>
              <a:rPr b="0" lang="en-IN" sz="1500" spc="-1" strike="noStrike">
                <a:latin typeface="Arial"/>
              </a:rPr>
              <a:t> A feature to </a:t>
            </a:r>
            <a:r>
              <a:rPr b="0" lang="en-IN" sz="1500" spc="-1" strike="noStrike">
                <a:latin typeface="Arial"/>
              </a:rPr>
              <a:t>export [RED] risk </a:t>
            </a:r>
            <a:r>
              <a:rPr b="0" lang="en-IN" sz="1500" spc="-1" strike="noStrike">
                <a:latin typeface="Arial"/>
              </a:rPr>
              <a:t>reports directly to </a:t>
            </a:r>
            <a:r>
              <a:rPr b="0" lang="en-IN" sz="1500" spc="-1" strike="noStrike">
                <a:latin typeface="Arial"/>
              </a:rPr>
              <a:t>a user's doctor.</a:t>
            </a:r>
            <a:endParaRPr b="0" lang="en-IN" sz="1500" spc="-1" strike="noStrike">
              <a:latin typeface="Arial"/>
            </a:endParaRPr>
          </a:p>
          <a:p>
            <a:pPr marL="216000" indent="-216000">
              <a:spcBef>
                <a:spcPts val="1191"/>
              </a:spcBef>
              <a:spcAft>
                <a:spcPts val="992"/>
              </a:spcAft>
              <a:buClr>
                <a:srgbClr val="000000"/>
              </a:buClr>
              <a:buSzPct val="45000"/>
              <a:buFont typeface="Wingdings" charset="2"/>
              <a:buChar char=""/>
            </a:pP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Google Shape;278;p18"/>
          <p:cNvSpPr/>
          <p:nvPr/>
        </p:nvSpPr>
        <p:spPr>
          <a:xfrm>
            <a:off x="1218600" y="420840"/>
            <a:ext cx="6444000" cy="703800"/>
          </a:xfrm>
          <a:prstGeom prst="rect">
            <a:avLst/>
          </a:prstGeom>
          <a:noFill/>
          <a:ln w="0">
            <a:noFill/>
          </a:ln>
        </p:spPr>
        <p:style>
          <a:lnRef idx="0"/>
          <a:fillRef idx="0"/>
          <a:effectRef idx="0"/>
          <a:fontRef idx="minor"/>
        </p:style>
        <p:txBody>
          <a:bodyPr lIns="0" rIns="0" tIns="0" bIns="0" anchor="t">
            <a:noAutofit/>
          </a:bodyPr>
          <a:p>
            <a:pPr>
              <a:lnSpc>
                <a:spcPct val="157000"/>
              </a:lnSpc>
              <a:buNone/>
              <a:tabLst>
                <a:tab algn="l" pos="0"/>
              </a:tabLst>
            </a:pPr>
            <a:r>
              <a:rPr b="1" lang="en-US" sz="3500" spc="-1" strike="noStrike">
                <a:solidFill>
                  <a:srgbClr val="051d3a"/>
                </a:solidFill>
                <a:latin typeface="Times New Roman"/>
                <a:ea typeface="Times New Roman"/>
              </a:rPr>
              <a:t>Git Hub Link</a:t>
            </a:r>
            <a:endParaRPr b="0" lang="en-IN" sz="3500" spc="-1" strike="noStrike">
              <a:latin typeface="Arial"/>
            </a:endParaRPr>
          </a:p>
        </p:txBody>
      </p:sp>
      <p:pic>
        <p:nvPicPr>
          <p:cNvPr id="136" name="Picture 2" descr=""/>
          <p:cNvPicPr/>
          <p:nvPr/>
        </p:nvPicPr>
        <p:blipFill>
          <a:blip r:embed="rId1"/>
          <a:stretch/>
        </p:blipFill>
        <p:spPr>
          <a:xfrm>
            <a:off x="335880" y="6315480"/>
            <a:ext cx="11520000" cy="309600"/>
          </a:xfrm>
          <a:prstGeom prst="rect">
            <a:avLst/>
          </a:prstGeom>
          <a:ln w="0">
            <a:noFill/>
          </a:ln>
        </p:spPr>
      </p:pic>
      <p:sp>
        <p:nvSpPr>
          <p:cNvPr id="137" name=""/>
          <p:cNvSpPr txBox="1"/>
          <p:nvPr/>
        </p:nvSpPr>
        <p:spPr>
          <a:xfrm>
            <a:off x="1080000" y="1453320"/>
            <a:ext cx="4680000" cy="685080"/>
          </a:xfrm>
          <a:prstGeom prst="rect">
            <a:avLst/>
          </a:prstGeom>
          <a:noFill/>
          <a:ln w="0">
            <a:noFill/>
          </a:ln>
        </p:spPr>
        <p:txBody>
          <a:bodyPr lIns="90000" rIns="90000" tIns="45000" bIns="45000" anchor="t">
            <a:noAutofit/>
          </a:bodyPr>
          <a:p>
            <a:r>
              <a:rPr b="0" lang="en-IN" sz="2100" spc="-1" strike="noStrike">
                <a:latin typeface="Arial"/>
              </a:rPr>
              <a:t>https://github.com/varun95300/FitScore</a:t>
            </a:r>
            <a:endParaRPr b="0" lang="en-IN" sz="2100" spc="-1" strike="noStrike" baseline="33000">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Google Shape;278;p18"/>
          <p:cNvSpPr/>
          <p:nvPr/>
        </p:nvSpPr>
        <p:spPr>
          <a:xfrm>
            <a:off x="1218600" y="420840"/>
            <a:ext cx="6444000" cy="703800"/>
          </a:xfrm>
          <a:prstGeom prst="rect">
            <a:avLst/>
          </a:prstGeom>
          <a:noFill/>
          <a:ln w="0">
            <a:noFill/>
          </a:ln>
        </p:spPr>
        <p:style>
          <a:lnRef idx="0"/>
          <a:fillRef idx="0"/>
          <a:effectRef idx="0"/>
          <a:fontRef idx="minor"/>
        </p:style>
        <p:txBody>
          <a:bodyPr lIns="0" rIns="0" tIns="0" bIns="0" anchor="t">
            <a:noAutofit/>
          </a:bodyPr>
          <a:p>
            <a:pPr>
              <a:lnSpc>
                <a:spcPct val="157000"/>
              </a:lnSpc>
              <a:buNone/>
            </a:pPr>
            <a:r>
              <a:rPr b="1" lang="en-US" sz="3500" spc="-1" strike="noStrike">
                <a:solidFill>
                  <a:srgbClr val="051d3a"/>
                </a:solidFill>
                <a:latin typeface="Times New Roman"/>
                <a:ea typeface="Arial"/>
              </a:rPr>
              <a:t>References </a:t>
            </a:r>
            <a:endParaRPr b="0" lang="en-IN" sz="3500" spc="-1" strike="noStrike">
              <a:latin typeface="Arial"/>
            </a:endParaRPr>
          </a:p>
        </p:txBody>
      </p:sp>
      <p:sp>
        <p:nvSpPr>
          <p:cNvPr id="139" name="Google Shape;279;p18"/>
          <p:cNvSpPr/>
          <p:nvPr/>
        </p:nvSpPr>
        <p:spPr>
          <a:xfrm>
            <a:off x="1282680" y="1393920"/>
            <a:ext cx="9214200" cy="4276800"/>
          </a:xfrm>
          <a:prstGeom prst="rect">
            <a:avLst/>
          </a:prstGeom>
          <a:noFill/>
          <a:ln w="0">
            <a:noFill/>
          </a:ln>
        </p:spPr>
        <p:style>
          <a:lnRef idx="0"/>
          <a:fillRef idx="0"/>
          <a:effectRef idx="0"/>
          <a:fontRef idx="minor"/>
        </p:style>
        <p:txBody>
          <a:bodyPr lIns="0" rIns="0" tIns="0" bIns="0" anchor="t">
            <a:noAutofit/>
          </a:bodyPr>
          <a:p>
            <a:pPr>
              <a:lnSpc>
                <a:spcPct val="162000"/>
              </a:lnSpc>
              <a:buNone/>
            </a:pPr>
            <a:r>
              <a:rPr b="1" lang="en-US" sz="1800" spc="-1" strike="noStrike">
                <a:solidFill>
                  <a:srgbClr val="2b3541"/>
                </a:solidFill>
                <a:latin typeface="Times New Roman"/>
                <a:ea typeface="Times New Roman"/>
              </a:rPr>
              <a:t>IBM watsonx.ai documentation</a:t>
            </a:r>
            <a:endParaRPr b="0" lang="en-IN" sz="1800" spc="-1" strike="noStrike">
              <a:latin typeface="Arial"/>
            </a:endParaRPr>
          </a:p>
          <a:p>
            <a:pPr>
              <a:lnSpc>
                <a:spcPct val="162000"/>
              </a:lnSpc>
              <a:buNone/>
            </a:pPr>
            <a:r>
              <a:rPr b="0" lang="en-US" sz="1800" spc="-1" strike="noStrike">
                <a:solidFill>
                  <a:srgbClr val="2b3541"/>
                </a:solidFill>
                <a:latin typeface="Times New Roman"/>
                <a:ea typeface="Times New Roman"/>
              </a:rPr>
              <a:t>https://www.ibm.com/products/watsonx-code-assistant?utm_content=SRCWW&amp;p1=Search&amp;p4=2373028861817&amp;p5=e&amp;p9=173891984084&amp;gclsrc=aw.ds&amp;gad_source=1&amp;gad_campaignid=22029767454&amp;gclid=Cj0KCQiAp-zLBhDkARIsABcYc6s6tONUla5z49sPmutlBfcn9nohENjT9ZRSOpnDW-dg44L2B4HriekaAmoBEALw_wcB </a:t>
            </a:r>
            <a:endParaRPr b="0" lang="en-IN" sz="1800" spc="-1" strike="noStrike">
              <a:latin typeface="Arial"/>
            </a:endParaRPr>
          </a:p>
          <a:p>
            <a:pPr>
              <a:lnSpc>
                <a:spcPct val="162000"/>
              </a:lnSpc>
              <a:buNone/>
            </a:pPr>
            <a:r>
              <a:rPr b="1" lang="en-US" sz="1800" spc="-1" strike="noStrike">
                <a:solidFill>
                  <a:srgbClr val="2b3541"/>
                </a:solidFill>
                <a:latin typeface="Times New Roman"/>
                <a:ea typeface="Times New Roman"/>
              </a:rPr>
              <a:t>DataStax Astra DB Vector guides</a:t>
            </a:r>
            <a:endParaRPr b="0" lang="en-IN" sz="1800" spc="-1" strike="noStrike">
              <a:latin typeface="Arial"/>
            </a:endParaRPr>
          </a:p>
          <a:p>
            <a:pPr>
              <a:lnSpc>
                <a:spcPct val="162000"/>
              </a:lnSpc>
              <a:buNone/>
            </a:pPr>
            <a:r>
              <a:rPr b="0" lang="en-US" sz="1800" spc="-1" strike="noStrike">
                <a:solidFill>
                  <a:srgbClr val="2b3541"/>
                </a:solidFill>
                <a:latin typeface="Times New Roman"/>
                <a:ea typeface="Times New Roman"/>
              </a:rPr>
              <a:t>https://docs.datastax.com/en/astra-db-serverless/get-started/vector-concepts.html</a:t>
            </a:r>
            <a:endParaRPr b="0" lang="en-IN" sz="1800" spc="-1" strike="noStrike">
              <a:latin typeface="Arial"/>
            </a:endParaRPr>
          </a:p>
          <a:p>
            <a:pPr>
              <a:lnSpc>
                <a:spcPct val="162000"/>
              </a:lnSpc>
              <a:buNone/>
            </a:pPr>
            <a:r>
              <a:rPr b="1" lang="en-US" sz="1800" spc="-1" strike="noStrike">
                <a:solidFill>
                  <a:srgbClr val="2b3541"/>
                </a:solidFill>
                <a:latin typeface="Times New Roman"/>
                <a:ea typeface="Times New Roman"/>
              </a:rPr>
              <a:t>Langflow orchestration tutorials.</a:t>
            </a:r>
            <a:endParaRPr b="0" lang="en-IN" sz="1800" spc="-1" strike="noStrike">
              <a:latin typeface="Arial"/>
            </a:endParaRPr>
          </a:p>
          <a:p>
            <a:pPr>
              <a:lnSpc>
                <a:spcPct val="162000"/>
              </a:lnSpc>
              <a:buNone/>
            </a:pPr>
            <a:r>
              <a:rPr b="0" lang="en-US" sz="1800" spc="-1" strike="noStrike">
                <a:solidFill>
                  <a:srgbClr val="2b3541"/>
                </a:solidFill>
                <a:latin typeface="Times New Roman"/>
                <a:ea typeface="Times New Roman"/>
              </a:rPr>
              <a:t>https://docs.langflow.org/</a:t>
            </a:r>
            <a:endParaRPr b="0" lang="en-IN" sz="1800" spc="-1" strike="noStrike">
              <a:latin typeface="Arial"/>
            </a:endParaRPr>
          </a:p>
          <a:p>
            <a:pPr>
              <a:lnSpc>
                <a:spcPct val="162000"/>
              </a:lnSpc>
              <a:buNone/>
            </a:pPr>
            <a:endParaRPr b="0" lang="en-IN" sz="1850" spc="-1" strike="noStrike">
              <a:latin typeface="Arial"/>
            </a:endParaRPr>
          </a:p>
          <a:p>
            <a:pPr>
              <a:lnSpc>
                <a:spcPct val="162000"/>
              </a:lnSpc>
              <a:buNone/>
              <a:tabLst>
                <a:tab algn="l" pos="0"/>
              </a:tabLst>
            </a:pPr>
            <a:endParaRPr b="0" lang="en-IN" sz="1850" spc="-1" strike="noStrike">
              <a:latin typeface="Arial"/>
            </a:endParaRPr>
          </a:p>
        </p:txBody>
      </p:sp>
      <p:pic>
        <p:nvPicPr>
          <p:cNvPr id="140" name="Picture 2" descr=""/>
          <p:cNvPicPr/>
          <p:nvPr/>
        </p:nvPicPr>
        <p:blipFill>
          <a:blip r:embed="rId1"/>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1" name="Google Shape;310;p20" descr=""/>
          <p:cNvPicPr/>
          <p:nvPr/>
        </p:nvPicPr>
        <p:blipFill>
          <a:blip r:embed="rId1"/>
          <a:stretch/>
        </p:blipFill>
        <p:spPr>
          <a:xfrm>
            <a:off x="0" y="2190240"/>
            <a:ext cx="12191760" cy="2477160"/>
          </a:xfrm>
          <a:prstGeom prst="rect">
            <a:avLst/>
          </a:prstGeom>
          <a:ln w="0">
            <a:noFill/>
          </a:ln>
        </p:spPr>
      </p:pic>
      <p:pic>
        <p:nvPicPr>
          <p:cNvPr id="142" name="Picture 2" descr=""/>
          <p:cNvPicPr/>
          <p:nvPr/>
        </p:nvPicPr>
        <p:blipFill>
          <a:blip r:embed="rId2"/>
          <a:stretch/>
        </p:blipFill>
        <p:spPr>
          <a:xfrm>
            <a:off x="335880" y="6315480"/>
            <a:ext cx="11520000" cy="3096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1110</TotalTime>
  <Application>LibreOffice/7.3.7.2$Linux_X86_64 LibreOffice_project/30$Build-2</Application>
  <AppVersion>15.0000</AppVersion>
  <Words>430</Words>
  <Paragraphs>87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en-IN</dc:language>
  <cp:lastModifiedBy/>
  <dcterms:modified xsi:type="dcterms:W3CDTF">2026-01-30T11:38:58Z</dcterms:modified>
  <cp:revision>116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Widescreen</vt:lpwstr>
  </property>
  <property fmtid="{D5CDD505-2E9C-101B-9397-08002B2CF9AE}" pid="4" name="Slides">
    <vt:i4>18</vt:i4>
  </property>
</Properties>
</file>